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8"/>
  </p:notesMasterIdLst>
  <p:sldIdLst>
    <p:sldId id="256" r:id="rId3"/>
    <p:sldId id="285" r:id="rId4"/>
    <p:sldId id="352" r:id="rId5"/>
    <p:sldId id="353" r:id="rId6"/>
    <p:sldId id="354" r:id="rId7"/>
    <p:sldId id="355" r:id="rId8"/>
    <p:sldId id="341" r:id="rId9"/>
    <p:sldId id="342" r:id="rId10"/>
    <p:sldId id="333" r:id="rId11"/>
    <p:sldId id="344" r:id="rId12"/>
    <p:sldId id="345" r:id="rId13"/>
    <p:sldId id="360" r:id="rId14"/>
    <p:sldId id="357" r:id="rId15"/>
    <p:sldId id="334" r:id="rId16"/>
    <p:sldId id="347" r:id="rId17"/>
    <p:sldId id="335" r:id="rId18"/>
    <p:sldId id="343" r:id="rId19"/>
    <p:sldId id="279" r:id="rId20"/>
    <p:sldId id="348" r:id="rId21"/>
    <p:sldId id="356" r:id="rId22"/>
    <p:sldId id="272" r:id="rId23"/>
    <p:sldId id="361" r:id="rId24"/>
    <p:sldId id="322" r:id="rId25"/>
    <p:sldId id="358" r:id="rId26"/>
    <p:sldId id="359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mer, Barbara K" initials="RBK" lastIdx="11" clrIdx="0">
    <p:extLst>
      <p:ext uri="{19B8F6BF-5375-455C-9EA6-DF929625EA0E}">
        <p15:presenceInfo xmlns:p15="http://schemas.microsoft.com/office/powerpoint/2012/main" userId="S-1-5-21-344340502-4252695000-2390403120-1194770" providerId="AD"/>
      </p:ext>
    </p:extLst>
  </p:cmAuthor>
  <p:cmAuthor id="2" name="Kosorok, Michael R" initials="KMR" lastIdx="12" clrIdx="1">
    <p:extLst>
      <p:ext uri="{19B8F6BF-5375-455C-9EA6-DF929625EA0E}">
        <p15:presenceInfo xmlns:p15="http://schemas.microsoft.com/office/powerpoint/2012/main" userId="S-1-5-21-344340502-4252695000-2390403120-122074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797" autoAdjust="0"/>
  </p:normalViewPr>
  <p:slideViewPr>
    <p:cSldViewPr snapToGrid="0" snapToObjects="1">
      <p:cViewPr varScale="1">
        <p:scale>
          <a:sx n="93" d="100"/>
          <a:sy n="93" d="100"/>
        </p:scale>
        <p:origin x="1147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5D4BC5-4270-D040-8A78-E5B1EC35A18C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634A93-3834-6244-A786-A3EE1914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5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34A93-3834-6244-A786-A3EE1914877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756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slide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634A93-3834-6244-A786-A3EE1914877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001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changed Diet 2 to blue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634A93-3834-6244-A786-A3EE1914877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32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added pediatric* patient (CCAT data is young teens)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34A93-3834-6244-A786-A3EE1914877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826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added pediatric* patient (CCAT data is young teens)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34A93-3834-6244-A786-A3EE1914877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276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Verdana"/>
                <a:ea typeface="Tahoma" panose="020B0604030504040204" pitchFamily="34" charset="0"/>
                <a:cs typeface="Verdana"/>
              </a:rPr>
              <a:t>More detail on how we think </a:t>
            </a:r>
            <a:r>
              <a:rPr lang="en-US" sz="1200" dirty="0" err="1">
                <a:latin typeface="Verdana"/>
                <a:ea typeface="Tahoma" panose="020B0604030504040204" pitchFamily="34" charset="0"/>
                <a:cs typeface="Verdana"/>
              </a:rPr>
              <a:t>Hedra</a:t>
            </a:r>
            <a:r>
              <a:rPr lang="en-US" sz="1200" dirty="0">
                <a:latin typeface="Verdana"/>
                <a:ea typeface="Tahoma" panose="020B0604030504040204" pitchFamily="34" charset="0"/>
                <a:cs typeface="Verdana"/>
              </a:rPr>
              <a:t> will work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34A93-3834-6244-A786-A3EE1914877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83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04314-924D-0B4E-AC37-C5B0963CAA71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5CF32-7F7F-2D43-B2B3-DAF0156F9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818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04314-924D-0B4E-AC37-C5B0963CAA71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5CF32-7F7F-2D43-B2B3-DAF0156F9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05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04314-924D-0B4E-AC37-C5B0963CAA71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5CF32-7F7F-2D43-B2B3-DAF0156F9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217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04314-924D-0B4E-AC37-C5B0963CAA71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5CF32-7F7F-2D43-B2B3-DAF0156F9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12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04314-924D-0B4E-AC37-C5B0963CAA71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5CF32-7F7F-2D43-B2B3-DAF0156F9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357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04314-924D-0B4E-AC37-C5B0963CAA71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5CF32-7F7F-2D43-B2B3-DAF0156F9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491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04314-924D-0B4E-AC37-C5B0963CAA71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5CF32-7F7F-2D43-B2B3-DAF0156F9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866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04314-924D-0B4E-AC37-C5B0963CAA71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5CF32-7F7F-2D43-B2B3-DAF0156F9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379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04314-924D-0B4E-AC37-C5B0963CAA71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5CF32-7F7F-2D43-B2B3-DAF0156F9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74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04314-924D-0B4E-AC37-C5B0963CAA71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5CF32-7F7F-2D43-B2B3-DAF0156F9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414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04314-924D-0B4E-AC37-C5B0963CAA71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5CF32-7F7F-2D43-B2B3-DAF0156F9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47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93251-0180-4ED7-8E9E-144DF70B8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666E6D-BD10-49F2-BEB1-FEE00F4EF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13124-4957-4657-9F52-CBEF12A4A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D2883-2110-493B-BC5A-F0AC9D39E719}" type="datetime1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A339-4F1A-4B43-AEE3-45753DBCB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6D635-F86F-4381-BCD4-7FE6A69CD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AC38-6C51-4F79-8DC2-CA35C4EEA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03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9D34F-7313-4096-9513-8B5BF4056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50C6D-7919-446D-8860-0345B4039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C5984-48FA-4EE5-AC9D-F517507F7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F713-80EF-4FC7-B58C-BFB2AE9FFD25}" type="datetime1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8A8E3-0BF6-431A-B4BB-9C643369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85559-9EE3-4D71-85EB-D898B36A3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AC38-6C51-4F79-8DC2-CA35C4EEA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44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8B13C-770D-49C5-B1E5-B166BC1BC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B25C3-B7B3-4848-8CFF-AB7B8F56E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5111A-62DD-4199-B29D-2849D1901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6727-52E6-4D3D-A7D9-B9A8F9081533}" type="datetime1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4FB0A-DB01-4FA8-AD87-57C6B75CB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33756-EEFE-457B-B3AE-AE7F11B99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AC38-6C51-4F79-8DC2-CA35C4EEA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061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402E8-EFE2-4E72-B643-A27E80713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1EF19-0CD1-41E8-96E1-EE75F75E78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5789AE-F4B6-4A6C-8AB3-2318F174A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F494C5-A3D9-4641-9AB2-553F4FB7E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B920F-DF56-435B-810F-1E0F50696E0F}" type="datetime1">
              <a:rPr lang="en-US" smtClean="0"/>
              <a:t>3/21/2019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23FD8B-6C1E-4C29-A4C3-CF3728197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4EBA31-D38A-4A82-9C0F-C5B39D020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AC38-6C51-4F79-8DC2-CA35C4EEA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186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82DAA-0E0C-4F14-8E96-4F80FB1EE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AF353-47CF-41AF-BC81-5764F342F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FB364-597E-435C-B828-6119BCF19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3F2805-EC4A-43BD-92AA-E1489A2DB2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E20316-CF65-4B56-9ADD-C38D4BCC40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D5E5CF-00CC-48A9-A241-E9321D18F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F7D3-CF83-44F4-AF64-17F2D3E69F83}" type="datetime1">
              <a:rPr lang="en-US" smtClean="0"/>
              <a:t>3/21/2019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B527D7-CD5D-46AB-8312-82B94CF1A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A722E6-4ACB-4EDF-AC79-62A91444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AC38-6C51-4F79-8DC2-CA35C4EEA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9900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975CF-DABF-461A-98C6-E726400C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67ABD-035E-46BC-8E30-1806A389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18E55-1B1C-47FC-A3B1-5FFA6353F0A8}" type="datetime1">
              <a:rPr lang="en-US" smtClean="0"/>
              <a:t>3/21/2019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C0842E-2EF1-42DF-B5A6-535CE0CF4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C50F7A-31E1-4F17-B361-59258D03C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AC38-6C51-4F79-8DC2-CA35C4EEA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5974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ADD5A3-CD2F-492B-9BA0-B897C019F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14A05-3F41-4238-A459-85F7949B5152}" type="datetime1">
              <a:rPr lang="en-US" smtClean="0"/>
              <a:t>3/21/2019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256134-4889-4E89-895D-1A4724AC0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139AD-A268-48A6-8B9F-E8B73A9FE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AC38-6C51-4F79-8DC2-CA35C4EEA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002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F49CA-F758-4E4C-91D7-F1B3F74CE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32BDB-7FCB-4DB1-84F4-8FD1D6AB8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1EDD2D-34C7-4329-8DBB-455CC32330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9B743-7CD5-4B60-B1E7-E982472C0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16E22-6262-4C39-8615-499AF46A6764}" type="datetime1">
              <a:rPr lang="en-US" smtClean="0"/>
              <a:t>3/21/2019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539173-E8D3-4CFF-B047-E2C026E86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0009C-5B5A-4157-97D1-1DC0463C3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AC38-6C51-4F79-8DC2-CA35C4EEA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2507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85B0A-32C4-43C0-AB24-09A63996A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E4E75B-41F5-4425-B23D-7D012A37FC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73627-F88C-4444-B0AD-ECED10B15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C72B45-7D52-4D51-B998-587708CD3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EA809-868F-4EB6-AD72-B3CD988E4F2A}" type="datetime1">
              <a:rPr lang="en-US" smtClean="0"/>
              <a:t>3/21/2019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F7EB6-C5E7-4AE5-95F1-B4F20B5FB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77A29-57EE-4909-89C8-D35D1DF48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AC38-6C51-4F79-8DC2-CA35C4EEA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235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1051E-428F-47B1-80C5-01B78B79F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C83EE-927A-4967-8674-0560BB056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D895E-1975-4555-84CA-571C6C884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1C2B4-FE00-4235-9348-AB477E71A137}" type="datetime1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76E71-8CE1-4974-AB3A-35BB12067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81172-E4CD-4C4F-98B2-C65F3D0C6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AC38-6C51-4F79-8DC2-CA35C4EEA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9462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A5B57D-5211-4124-AF60-E4CF8DDC5E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3B2DD-974C-435A-A0F7-9A9DB5CFE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4B6D5-5D42-4446-A71F-FA4672311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E1ADF-27E1-4D5C-A170-83EC3E42BF10}" type="datetime1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1072B-AE93-4D30-B944-A0031CFE6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04726-B3A4-4BDC-9D3B-33270FFF2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DAC38-6C51-4F79-8DC2-CA35C4EEA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48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04314-924D-0B4E-AC37-C5B0963CAA71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15CF32-7F7F-2D43-B2B3-DAF0156F9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177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F58E17-5873-42A7-ADDF-328429565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BF244-51F7-4070-A79A-89FD98A40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B2E1C-12F7-4041-9E6B-BD3472B9DF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279CF-B37A-4BEF-92DB-2004EE7FBC80}" type="datetime1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32BEA-50B0-4737-BBC8-6BA1308B64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D14BC-C4B6-4376-A6BB-3063788DE6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DAC38-6C51-4F79-8DC2-CA35C4EEA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198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3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3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6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3.gi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7" Type="http://schemas.openxmlformats.org/officeDocument/2006/relationships/hyperlink" Target="https://www2.cscc.unc.edu/impact7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bookstore.siam.org/sa21/" TargetMode="External"/><Relationship Id="rId5" Type="http://schemas.openxmlformats.org/officeDocument/2006/relationships/hyperlink" Target="https://www2.cscc.unc.edu/impact7/DynTxRegime" TargetMode="External"/><Relationship Id="rId4" Type="http://schemas.openxmlformats.org/officeDocument/2006/relationships/hyperlink" Target="https://www.methodology.psu.edu/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564478"/>
            <a:ext cx="9144000" cy="1225614"/>
          </a:xfrm>
          <a:prstGeom prst="rect">
            <a:avLst/>
          </a:prstGeom>
          <a:solidFill>
            <a:srgbClr val="3A7E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latin typeface="Gill Sans MT"/>
                <a:cs typeface="Gill Sans MT"/>
              </a:rPr>
              <a:t>Recent Developments in Machine Learning</a:t>
            </a:r>
          </a:p>
          <a:p>
            <a:pPr algn="ctr"/>
            <a:r>
              <a:rPr lang="en-US" sz="2800" b="1" dirty="0" smtClean="0">
                <a:latin typeface="Gill Sans MT"/>
                <a:cs typeface="Gill Sans MT"/>
              </a:rPr>
              <a:t>And Precision Medicine</a:t>
            </a:r>
          </a:p>
          <a:p>
            <a:pPr algn="ctr"/>
            <a:r>
              <a:rPr lang="en-US" sz="2800" b="1" dirty="0" smtClean="0">
                <a:latin typeface="Gill Sans MT"/>
                <a:cs typeface="Gill Sans MT"/>
              </a:rPr>
              <a:t>With Implications in Clinical Research</a:t>
            </a:r>
            <a:endParaRPr lang="en-US" sz="2800" b="1" dirty="0">
              <a:latin typeface="Gill Sans MT"/>
              <a:cs typeface="Gill Sans MT"/>
            </a:endParaRPr>
          </a:p>
        </p:txBody>
      </p:sp>
      <p:pic>
        <p:nvPicPr>
          <p:cNvPr id="5" name="Picture 4" descr="UNC_GILLINGS_542_transp_bg_200px_wid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28" y="155351"/>
            <a:ext cx="1219119" cy="3108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1155" y="6025216"/>
            <a:ext cx="1670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smtClean="0">
                <a:latin typeface="Tahoma"/>
                <a:cs typeface="Tahoma"/>
              </a:rPr>
              <a:t>April </a:t>
            </a:r>
            <a:r>
              <a:rPr lang="en-US" b="1">
                <a:latin typeface="Tahoma"/>
                <a:cs typeface="Tahoma"/>
              </a:rPr>
              <a:t>4</a:t>
            </a:r>
            <a:r>
              <a:rPr lang="en-US" b="1" smtClean="0">
                <a:latin typeface="Tahoma"/>
                <a:cs typeface="Tahoma"/>
              </a:rPr>
              <a:t>, </a:t>
            </a:r>
            <a:r>
              <a:rPr lang="en-US" b="1" dirty="0">
                <a:latin typeface="Tahoma"/>
                <a:cs typeface="Tahoma"/>
              </a:rPr>
              <a:t>2019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84311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ahoma"/>
                <a:cs typeface="Tahoma"/>
              </a:rPr>
              <a:t>Michael R. Kosorok, PhD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14576" y="3610845"/>
            <a:ext cx="54499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i="1" dirty="0">
                <a:solidFill>
                  <a:schemeClr val="bg1"/>
                </a:solidFill>
                <a:latin typeface="Avenir Next Regular"/>
                <a:cs typeface="Avenir Next Regular"/>
              </a:rPr>
              <a:t>Example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82917" y="2985921"/>
            <a:ext cx="17559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 course plot of glucose, Insulin, physical activity, and food intake for a single patient (data from Maahs et al, 2012)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50" y="2458777"/>
            <a:ext cx="4917220" cy="4097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857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NC_GILLINGS_542_transp_bg_200px_wid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28" y="155351"/>
            <a:ext cx="1219119" cy="3108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64478"/>
            <a:ext cx="9144000" cy="893754"/>
          </a:xfrm>
          <a:prstGeom prst="rect">
            <a:avLst/>
          </a:prstGeom>
          <a:solidFill>
            <a:srgbClr val="3A7E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Gill Sans MT"/>
                <a:cs typeface="Gill Sans MT"/>
              </a:rPr>
              <a:t>Outline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0" y="1800176"/>
            <a:ext cx="9144000" cy="4497107"/>
          </a:xfrm>
        </p:spPr>
        <p:txBody>
          <a:bodyPr>
            <a:noAutofit/>
          </a:bodyPr>
          <a:lstStyle/>
          <a:p>
            <a:pPr>
              <a:buBlip>
                <a:blip r:embed="rId3"/>
              </a:buBlip>
            </a:pPr>
            <a:r>
              <a:rPr lang="en-US" dirty="0">
                <a:latin typeface="Verdana"/>
                <a:ea typeface="Tahoma" panose="020B0604030504040204" pitchFamily="34" charset="0"/>
                <a:cs typeface="Verdana"/>
              </a:rPr>
              <a:t>Overview of precision medicine</a:t>
            </a:r>
          </a:p>
          <a:p>
            <a:pPr>
              <a:buBlip>
                <a:blip r:embed="rId3"/>
              </a:buBlip>
            </a:pPr>
            <a:r>
              <a:rPr lang="en-US" dirty="0">
                <a:latin typeface="Verdana"/>
                <a:ea typeface="Tahoma" panose="020B0604030504040204" pitchFamily="34" charset="0"/>
                <a:cs typeface="Verdana"/>
              </a:rPr>
              <a:t>Sketch of machine learning</a:t>
            </a:r>
          </a:p>
          <a:p>
            <a:pPr>
              <a:buBlip>
                <a:blip r:embed="rId3"/>
              </a:buBlip>
            </a:pPr>
            <a:r>
              <a:rPr lang="en-US" dirty="0">
                <a:latin typeface="Verdana"/>
                <a:ea typeface="Tahoma" panose="020B0604030504040204" pitchFamily="34" charset="0"/>
                <a:cs typeface="Verdana"/>
              </a:rPr>
              <a:t>Recent developments on the interface</a:t>
            </a:r>
          </a:p>
          <a:p>
            <a:pPr>
              <a:buBlip>
                <a:blip r:embed="rId3"/>
              </a:buBlip>
            </a:pPr>
            <a:r>
              <a:rPr lang="en-US" dirty="0">
                <a:latin typeface="Verdana"/>
                <a:ea typeface="Tahoma" panose="020B0604030504040204" pitchFamily="34" charset="0"/>
                <a:cs typeface="Verdana"/>
              </a:rPr>
              <a:t>Example 1: T1D precision diet selection</a:t>
            </a:r>
          </a:p>
          <a:p>
            <a:pPr>
              <a:buBlip>
                <a:blip r:embed="rId3"/>
              </a:buBlip>
            </a:pPr>
            <a:r>
              <a:rPr lang="en-US" dirty="0">
                <a:latin typeface="Verdana"/>
                <a:ea typeface="Tahoma" panose="020B0604030504040204" pitchFamily="34" charset="0"/>
                <a:cs typeface="Verdana"/>
              </a:rPr>
              <a:t>Example 2: T1D safe exercise </a:t>
            </a:r>
            <a:r>
              <a:rPr lang="en-US" dirty="0" smtClean="0">
                <a:latin typeface="Verdana"/>
                <a:ea typeface="Tahoma" panose="020B0604030504040204" pitchFamily="34" charset="0"/>
                <a:cs typeface="Verdana"/>
              </a:rPr>
              <a:t>strategies</a:t>
            </a:r>
          </a:p>
          <a:p>
            <a:pPr>
              <a:buBlip>
                <a:blip r:embed="rId3"/>
              </a:buBlip>
            </a:pPr>
            <a:r>
              <a:rPr lang="en-US" dirty="0" smtClean="0">
                <a:latin typeface="Verdana"/>
                <a:ea typeface="Tahoma" panose="020B0604030504040204" pitchFamily="34" charset="0"/>
                <a:cs typeface="Verdana"/>
              </a:rPr>
              <a:t>Potential in radiation oncology</a:t>
            </a:r>
            <a:endParaRPr lang="en-US" dirty="0">
              <a:latin typeface="Verdana"/>
              <a:ea typeface="Tahoma" panose="020B0604030504040204" pitchFamily="34" charset="0"/>
              <a:cs typeface="Verdana"/>
            </a:endParaRPr>
          </a:p>
          <a:p>
            <a:pPr>
              <a:buBlip>
                <a:blip r:embed="rId3"/>
              </a:buBlip>
            </a:pPr>
            <a:r>
              <a:rPr lang="en-US" dirty="0">
                <a:latin typeface="Verdana"/>
                <a:ea typeface="Tahoma" panose="020B0604030504040204" pitchFamily="34" charset="0"/>
                <a:cs typeface="Verdana"/>
              </a:rPr>
              <a:t>Concluding </a:t>
            </a:r>
            <a:r>
              <a:rPr lang="en-US" dirty="0" smtClean="0">
                <a:latin typeface="Verdana"/>
                <a:ea typeface="Tahoma" panose="020B0604030504040204" pitchFamily="34" charset="0"/>
                <a:cs typeface="Verdana"/>
              </a:rPr>
              <a:t>thoughts and resources</a:t>
            </a:r>
            <a:endParaRPr lang="en-US" dirty="0">
              <a:latin typeface="Verdana"/>
              <a:ea typeface="Tahoma" panose="020B0604030504040204" pitchFamily="34" charset="0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164492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NC_GILLINGS_542_transp_bg_200px_wid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28" y="155351"/>
            <a:ext cx="1219119" cy="3108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64478"/>
            <a:ext cx="9144000" cy="893754"/>
          </a:xfrm>
          <a:prstGeom prst="rect">
            <a:avLst/>
          </a:prstGeom>
          <a:solidFill>
            <a:srgbClr val="3A7E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latin typeface="Gill Sans MT"/>
                <a:cs typeface="Gill Sans MT"/>
              </a:rPr>
              <a:t>Precision Medicine and Precision Health</a:t>
            </a:r>
            <a:endParaRPr lang="en-US" sz="3600" b="1" dirty="0">
              <a:latin typeface="Gill Sans MT"/>
              <a:cs typeface="Gill Sans MT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-8238" y="1470796"/>
            <a:ext cx="9017876" cy="5387203"/>
          </a:xfrm>
        </p:spPr>
        <p:txBody>
          <a:bodyPr>
            <a:noAutofit/>
          </a:bodyPr>
          <a:lstStyle/>
          <a:p>
            <a:pPr>
              <a:buBlip>
                <a:blip r:embed="rId3"/>
              </a:buBlip>
            </a:pP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</a:rPr>
              <a:t>Precision Medicine</a:t>
            </a:r>
          </a:p>
          <a:p>
            <a:pPr lvl="1">
              <a:buBlip>
                <a:blip r:embed="rId3"/>
              </a:buBlip>
            </a:pPr>
            <a:r>
              <a:rPr lang="en-US" sz="1800" dirty="0" smtClean="0">
                <a:latin typeface="Verdana"/>
                <a:ea typeface="Tahoma" panose="020B0604030504040204" pitchFamily="34" charset="0"/>
                <a:cs typeface="Verdana"/>
              </a:rPr>
              <a:t>Data-driven decision support for treating patients in the presence of heterogeneity (dynamic treatment regimes or DTRs)</a:t>
            </a:r>
          </a:p>
          <a:p>
            <a:pPr lvl="1">
              <a:buBlip>
                <a:blip r:embed="rId3"/>
              </a:buBlip>
            </a:pPr>
            <a:r>
              <a:rPr lang="en-US" sz="1800" dirty="0" smtClean="0">
                <a:latin typeface="Verdana"/>
                <a:ea typeface="Tahoma" panose="020B0604030504040204" pitchFamily="34" charset="0"/>
                <a:cs typeface="Verdana"/>
              </a:rPr>
              <a:t>Treatment can include drug choice, administrative actions, dosing, timing, potentially modifiable risk factors, and/or other potentially beneficial actions to the patients</a:t>
            </a:r>
          </a:p>
          <a:p>
            <a:pPr lvl="1">
              <a:buBlip>
                <a:blip r:embed="rId3"/>
              </a:buBlip>
            </a:pPr>
            <a:r>
              <a:rPr lang="en-US" sz="1800" dirty="0" smtClean="0">
                <a:latin typeface="Verdana"/>
                <a:ea typeface="Tahoma" panose="020B0604030504040204" pitchFamily="34" charset="0"/>
                <a:cs typeface="Verdana"/>
              </a:rPr>
              <a:t>Must be reproducible and generalizable (empirically and inferentially valid)</a:t>
            </a:r>
            <a:endParaRPr lang="en-US" sz="1800" dirty="0">
              <a:latin typeface="Verdana"/>
              <a:ea typeface="Tahoma" panose="020B0604030504040204" pitchFamily="34" charset="0"/>
              <a:cs typeface="Verdana"/>
            </a:endParaRPr>
          </a:p>
          <a:p>
            <a:pPr>
              <a:buBlip>
                <a:blip r:embed="rId3"/>
              </a:buBlip>
            </a:pP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</a:rPr>
              <a:t>Precision Public Health</a:t>
            </a:r>
          </a:p>
          <a:p>
            <a:pPr lvl="1">
              <a:buBlip>
                <a:blip r:embed="rId3"/>
              </a:buBlip>
            </a:pPr>
            <a:r>
              <a:rPr lang="en-US" sz="1800" dirty="0" smtClean="0">
                <a:latin typeface="Verdana"/>
                <a:ea typeface="Tahoma" panose="020B0604030504040204" pitchFamily="34" charset="0"/>
                <a:cs typeface="Verdana"/>
              </a:rPr>
              <a:t>Data-driven decision support for families, communities, </a:t>
            </a:r>
          </a:p>
          <a:p>
            <a:pPr marL="457200" lvl="1" indent="0">
              <a:buNone/>
            </a:pPr>
            <a:r>
              <a:rPr lang="en-US" sz="1800" dirty="0">
                <a:latin typeface="Verdana"/>
                <a:ea typeface="Tahoma" panose="020B0604030504040204" pitchFamily="34" charset="0"/>
                <a:cs typeface="Verdana"/>
              </a:rPr>
              <a:t> </a:t>
            </a:r>
            <a:r>
              <a:rPr lang="en-US" sz="1800" dirty="0" smtClean="0">
                <a:latin typeface="Verdana"/>
                <a:ea typeface="Tahoma" panose="020B0604030504040204" pitchFamily="34" charset="0"/>
                <a:cs typeface="Verdana"/>
              </a:rPr>
              <a:t>   clinics, social networks, and other entities</a:t>
            </a:r>
          </a:p>
          <a:p>
            <a:pPr lvl="1">
              <a:buBlip>
                <a:blip r:embed="rId3"/>
              </a:buBlip>
            </a:pPr>
            <a:r>
              <a:rPr lang="en-US" sz="1800" dirty="0" smtClean="0">
                <a:latin typeface="Verdana"/>
                <a:ea typeface="Tahoma" panose="020B0604030504040204" pitchFamily="34" charset="0"/>
                <a:cs typeface="Verdana"/>
              </a:rPr>
              <a:t>Potential treatments can also be policies</a:t>
            </a:r>
            <a:endParaRPr lang="en-US" sz="1800" dirty="0">
              <a:latin typeface="Verdana"/>
              <a:ea typeface="Tahoma" panose="020B0604030504040204" pitchFamily="34" charset="0"/>
              <a:cs typeface="Verdana"/>
            </a:endParaRPr>
          </a:p>
          <a:p>
            <a:pPr>
              <a:buBlip>
                <a:blip r:embed="rId3"/>
              </a:buBlip>
            </a:pP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</a:rPr>
              <a:t>Precision Health</a:t>
            </a:r>
          </a:p>
          <a:p>
            <a:pPr lvl="1">
              <a:buBlip>
                <a:blip r:embed="rId3"/>
              </a:buBlip>
            </a:pPr>
            <a:r>
              <a:rPr lang="en-US" sz="1800" dirty="0" smtClean="0">
                <a:latin typeface="Verdana"/>
                <a:ea typeface="Tahoma" panose="020B0604030504040204" pitchFamily="34" charset="0"/>
                <a:cs typeface="Verdana"/>
              </a:rPr>
              <a:t>Union of precision medicine and precision health</a:t>
            </a:r>
          </a:p>
          <a:p>
            <a:pPr lvl="1">
              <a:buBlip>
                <a:blip r:embed="rId3"/>
              </a:buBlip>
            </a:pPr>
            <a:r>
              <a:rPr lang="en-US" sz="1800" dirty="0" smtClean="0">
                <a:latin typeface="Verdana"/>
                <a:ea typeface="Tahoma" panose="020B0604030504040204" pitchFamily="34" charset="0"/>
                <a:cs typeface="Verdana"/>
              </a:rPr>
              <a:t>We always consider the consequences of our actions on the populations involved not just narrow subgroups or individuals</a:t>
            </a:r>
            <a:endParaRPr lang="en-US" sz="1800" dirty="0">
              <a:latin typeface="Verdana"/>
              <a:ea typeface="Tahoma" panose="020B0604030504040204" pitchFamily="34" charset="0"/>
              <a:cs typeface="Verdan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978" y="3657600"/>
            <a:ext cx="1637022" cy="237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839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NC_GILLINGS_542_transp_bg_200px_wid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28" y="155351"/>
            <a:ext cx="1219119" cy="3108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64478"/>
            <a:ext cx="9144000" cy="893754"/>
          </a:xfrm>
          <a:prstGeom prst="rect">
            <a:avLst/>
          </a:prstGeom>
          <a:solidFill>
            <a:srgbClr val="3A7E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latin typeface="Gill Sans MT"/>
                <a:cs typeface="Gill Sans MT"/>
              </a:rPr>
              <a:t>Operating Principles</a:t>
            </a:r>
            <a:endParaRPr lang="en-US" sz="3600" b="1" dirty="0">
              <a:latin typeface="Gill Sans MT"/>
              <a:cs typeface="Gill Sans MT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-8238" y="1569183"/>
            <a:ext cx="9017876" cy="5230685"/>
          </a:xfrm>
        </p:spPr>
        <p:txBody>
          <a:bodyPr>
            <a:noAutofit/>
          </a:bodyPr>
          <a:lstStyle/>
          <a:p>
            <a:pPr>
              <a:buBlip>
                <a:blip r:embed="rId3"/>
              </a:buBlip>
            </a:pP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</a:rPr>
              <a:t>Observable Constituents:</a:t>
            </a:r>
          </a:p>
          <a:p>
            <a:pPr lvl="1">
              <a:buBlip>
                <a:blip r:embed="rId3"/>
              </a:buBlip>
            </a:pPr>
            <a:r>
              <a:rPr lang="en-US" sz="1800" dirty="0" smtClean="0">
                <a:latin typeface="Verdana"/>
                <a:ea typeface="Tahoma" panose="020B0604030504040204" pitchFamily="34" charset="0"/>
                <a:cs typeface="Verdana"/>
              </a:rPr>
              <a:t>Tailoring variables (X)</a:t>
            </a:r>
          </a:p>
          <a:p>
            <a:pPr lvl="1">
              <a:buBlip>
                <a:blip r:embed="rId3"/>
              </a:buBlip>
            </a:pPr>
            <a:r>
              <a:rPr lang="en-US" sz="1800" dirty="0" smtClean="0">
                <a:latin typeface="Verdana"/>
                <a:ea typeface="Tahoma" panose="020B0604030504040204" pitchFamily="34" charset="0"/>
                <a:cs typeface="Verdana"/>
              </a:rPr>
              <a:t>Choice of treatments and/or potentially modifiable risk factors (A)</a:t>
            </a:r>
            <a:endParaRPr lang="en-US" sz="1800" dirty="0">
              <a:latin typeface="Verdana"/>
              <a:ea typeface="Tahoma" panose="020B0604030504040204" pitchFamily="34" charset="0"/>
              <a:cs typeface="Verdana"/>
            </a:endParaRPr>
          </a:p>
          <a:p>
            <a:pPr lvl="1">
              <a:buBlip>
                <a:blip r:embed="rId3"/>
              </a:buBlip>
            </a:pPr>
            <a:r>
              <a:rPr lang="en-US" sz="1800" dirty="0" smtClean="0">
                <a:latin typeface="Verdana"/>
                <a:ea typeface="Tahoma" panose="020B0604030504040204" pitchFamily="34" charset="0"/>
                <a:cs typeface="Verdana"/>
              </a:rPr>
              <a:t>Vector of outcomes or utilities (Y)</a:t>
            </a:r>
          </a:p>
          <a:p>
            <a:pPr lvl="1">
              <a:buBlip>
                <a:blip r:embed="rId3"/>
              </a:buBlip>
            </a:pPr>
            <a:r>
              <a:rPr lang="en-US" sz="1800" dirty="0" smtClean="0">
                <a:latin typeface="Verdana"/>
                <a:ea typeface="Tahoma" panose="020B0604030504040204" pitchFamily="34" charset="0"/>
                <a:cs typeface="Verdana"/>
              </a:rPr>
              <a:t>Could be multiple (X,A,Y) triples over time for each patient</a:t>
            </a:r>
          </a:p>
          <a:p>
            <a:pPr>
              <a:buBlip>
                <a:blip r:embed="rId3"/>
              </a:buBlip>
            </a:pP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</a:rPr>
              <a:t>Dynamic Treatment Regime (DTR):</a:t>
            </a:r>
          </a:p>
          <a:p>
            <a:pPr lvl="1">
              <a:buBlip>
                <a:blip r:embed="rId3"/>
              </a:buBlip>
            </a:pPr>
            <a:r>
              <a:rPr lang="en-US" sz="1600" dirty="0" smtClean="0">
                <a:latin typeface="Verdana"/>
                <a:ea typeface="Tahoma" panose="020B0604030504040204" pitchFamily="34" charset="0"/>
                <a:cs typeface="Verdana"/>
              </a:rPr>
              <a:t>Single decision: make a single recommendation for treatment</a:t>
            </a:r>
          </a:p>
          <a:p>
            <a:pPr lvl="1">
              <a:buBlip>
                <a:blip r:embed="rId3"/>
              </a:buBlip>
            </a:pPr>
            <a:r>
              <a:rPr lang="en-US" sz="1600" dirty="0" smtClean="0">
                <a:latin typeface="Verdana"/>
                <a:ea typeface="Tahoma" panose="020B0604030504040204" pitchFamily="34" charset="0"/>
                <a:cs typeface="Verdana"/>
              </a:rPr>
              <a:t>Multiple decision: make a series of interdependent recommendations</a:t>
            </a:r>
          </a:p>
          <a:p>
            <a:pPr lvl="1">
              <a:buBlip>
                <a:blip r:embed="rId3"/>
              </a:buBlip>
            </a:pPr>
            <a:r>
              <a:rPr lang="en-US" sz="1600" dirty="0" smtClean="0">
                <a:latin typeface="Verdana"/>
                <a:ea typeface="Tahoma" panose="020B0604030504040204" pitchFamily="34" charset="0"/>
                <a:cs typeface="Verdana"/>
              </a:rPr>
              <a:t>Continual monitoring: for diabetes, </a:t>
            </a:r>
            <a:r>
              <a:rPr lang="en-US" sz="1600" dirty="0" err="1" smtClean="0">
                <a:latin typeface="Verdana"/>
                <a:ea typeface="Tahoma" panose="020B0604030504040204" pitchFamily="34" charset="0"/>
                <a:cs typeface="Verdana"/>
              </a:rPr>
              <a:t>mHealth</a:t>
            </a:r>
            <a:endParaRPr lang="en-US" sz="1600" dirty="0" smtClean="0">
              <a:latin typeface="Verdana"/>
              <a:ea typeface="Tahoma" panose="020B0604030504040204" pitchFamily="34" charset="0"/>
              <a:cs typeface="Verdana"/>
            </a:endParaRPr>
          </a:p>
          <a:p>
            <a:pPr>
              <a:buBlip>
                <a:blip r:embed="rId3"/>
              </a:buBlip>
            </a:pPr>
            <a:r>
              <a:rPr lang="en-US" sz="2000" dirty="0">
                <a:latin typeface="Verdana"/>
                <a:ea typeface="Tahoma" panose="020B0604030504040204" pitchFamily="34" charset="0"/>
                <a:cs typeface="Verdana"/>
              </a:rPr>
              <a:t>Role of </a:t>
            </a: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</a:rPr>
              <a:t>Heterogeneity in the data:</a:t>
            </a:r>
          </a:p>
          <a:p>
            <a:pPr lvl="1">
              <a:buBlip>
                <a:blip r:embed="rId3"/>
              </a:buBlip>
            </a:pPr>
            <a:r>
              <a:rPr lang="en-US" sz="1800" dirty="0" smtClean="0">
                <a:latin typeface="Verdana"/>
                <a:ea typeface="Tahoma" panose="020B0604030504040204" pitchFamily="34" charset="0"/>
                <a:cs typeface="Verdana"/>
              </a:rPr>
              <a:t>Heterogeneity of patients is beneficial (essential) for good precision medicine analysis so that our treatment rules are broadly applicable</a:t>
            </a:r>
          </a:p>
          <a:p>
            <a:pPr lvl="1">
              <a:buBlip>
                <a:blip r:embed="rId3"/>
              </a:buBlip>
            </a:pPr>
            <a:r>
              <a:rPr lang="en-US" sz="1800" dirty="0" smtClean="0">
                <a:latin typeface="Verdana"/>
                <a:ea typeface="Tahoma" panose="020B0604030504040204" pitchFamily="34" charset="0"/>
                <a:cs typeface="Verdana"/>
              </a:rPr>
              <a:t>Potential treatments can also be policies or risk factor modifications</a:t>
            </a:r>
          </a:p>
          <a:p>
            <a:pPr lvl="1">
              <a:buBlip>
                <a:blip r:embed="rId3"/>
              </a:buBlip>
            </a:pPr>
            <a:r>
              <a:rPr lang="en-US" sz="1800" dirty="0" smtClean="0">
                <a:latin typeface="Verdana"/>
                <a:ea typeface="Tahoma" panose="020B0604030504040204" pitchFamily="34" charset="0"/>
                <a:cs typeface="Verdana"/>
              </a:rPr>
              <a:t>Need heterogeneity of treatment assignment (either </a:t>
            </a:r>
          </a:p>
          <a:p>
            <a:pPr marL="457200" lvl="1" indent="0">
              <a:buNone/>
            </a:pPr>
            <a:r>
              <a:rPr lang="en-US" sz="1800" dirty="0">
                <a:latin typeface="Verdana"/>
                <a:ea typeface="Tahoma" panose="020B0604030504040204" pitchFamily="34" charset="0"/>
                <a:cs typeface="Verdana"/>
              </a:rPr>
              <a:t> </a:t>
            </a:r>
            <a:r>
              <a:rPr lang="en-US" sz="1800" dirty="0" smtClean="0">
                <a:latin typeface="Verdana"/>
                <a:ea typeface="Tahoma" panose="020B0604030504040204" pitchFamily="34" charset="0"/>
                <a:cs typeface="Verdana"/>
              </a:rPr>
              <a:t>   naturally or by design) in the data so we can determine </a:t>
            </a:r>
          </a:p>
          <a:p>
            <a:pPr marL="457200" lvl="1" indent="0">
              <a:buNone/>
            </a:pPr>
            <a:r>
              <a:rPr lang="en-US" sz="1800" dirty="0">
                <a:latin typeface="Verdana"/>
                <a:ea typeface="Tahoma" panose="020B0604030504040204" pitchFamily="34" charset="0"/>
                <a:cs typeface="Verdana"/>
              </a:rPr>
              <a:t> </a:t>
            </a:r>
            <a:r>
              <a:rPr lang="en-US" sz="1800" dirty="0" smtClean="0">
                <a:latin typeface="Verdana"/>
                <a:ea typeface="Tahoma" panose="020B0604030504040204" pitchFamily="34" charset="0"/>
                <a:cs typeface="Verdana"/>
              </a:rPr>
              <a:t>   best treatment under a variety of situations</a:t>
            </a:r>
            <a:endParaRPr lang="en-US" sz="1800" dirty="0">
              <a:latin typeface="Verdana"/>
              <a:ea typeface="Tahoma" panose="020B0604030504040204" pitchFamily="34" charset="0"/>
              <a:cs typeface="Verdan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1719" y="5815769"/>
            <a:ext cx="1672281" cy="1042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24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NC_GILLINGS_542_transp_bg_200px_wid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28" y="155351"/>
            <a:ext cx="1219119" cy="3108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64478"/>
            <a:ext cx="9144000" cy="893754"/>
          </a:xfrm>
          <a:prstGeom prst="rect">
            <a:avLst/>
          </a:prstGeom>
          <a:solidFill>
            <a:srgbClr val="3A7E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/>
                <a:ea typeface="+mn-ea"/>
                <a:cs typeface="Gill Sans MT"/>
              </a:rPr>
              <a:t>Overall Pipeline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Gill Sans MT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-8238" y="1560945"/>
            <a:ext cx="9017876" cy="5070047"/>
          </a:xfrm>
        </p:spPr>
        <p:txBody>
          <a:bodyPr>
            <a:noAutofit/>
          </a:bodyPr>
          <a:lstStyle/>
          <a:p>
            <a:pPr>
              <a:buBlip>
                <a:blip r:embed="rId3"/>
              </a:buBlip>
            </a:pP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</a:rPr>
              <a:t>Dynamic Treatment Regime d(X):</a:t>
            </a:r>
            <a:endParaRPr lang="en-US" sz="1600" dirty="0" smtClean="0">
              <a:latin typeface="Verdana"/>
              <a:ea typeface="Tahoma" panose="020B0604030504040204" pitchFamily="34" charset="0"/>
              <a:cs typeface="Verdana"/>
            </a:endParaRPr>
          </a:p>
          <a:p>
            <a:pPr lvl="1">
              <a:buBlip>
                <a:blip r:embed="rId3"/>
              </a:buBlip>
            </a:pPr>
            <a:r>
              <a:rPr lang="en-US" sz="1800" dirty="0" smtClean="0">
                <a:latin typeface="Verdana"/>
                <a:ea typeface="Tahoma" panose="020B0604030504040204" pitchFamily="34" charset="0"/>
                <a:cs typeface="Verdana"/>
              </a:rPr>
              <a:t>This is rule which assigns treatment or action A to be recommended for a patient with characteristics X</a:t>
            </a:r>
          </a:p>
          <a:p>
            <a:pPr>
              <a:buBlip>
                <a:blip r:embed="rId3"/>
              </a:buBlip>
            </a:pP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</a:rPr>
              <a:t>Propensity Score P(A|X):</a:t>
            </a:r>
          </a:p>
          <a:p>
            <a:pPr lvl="1">
              <a:buBlip>
                <a:blip r:embed="rId3"/>
              </a:buBlip>
            </a:pPr>
            <a:r>
              <a:rPr lang="en-US" sz="1600" dirty="0" smtClean="0">
                <a:latin typeface="Verdana"/>
                <a:ea typeface="Tahoma" panose="020B0604030504040204" pitchFamily="34" charset="0"/>
                <a:cs typeface="Verdana"/>
              </a:rPr>
              <a:t>This tells us whether there is a variety of A values across different X values</a:t>
            </a:r>
          </a:p>
          <a:p>
            <a:pPr lvl="1">
              <a:buBlip>
                <a:blip r:embed="rId3"/>
              </a:buBlip>
            </a:pPr>
            <a:r>
              <a:rPr lang="en-US" sz="1600" dirty="0" smtClean="0">
                <a:latin typeface="Verdana"/>
                <a:ea typeface="Tahoma" panose="020B0604030504040204" pitchFamily="34" charset="0"/>
                <a:cs typeface="Verdana"/>
              </a:rPr>
              <a:t>We want this </a:t>
            </a:r>
            <a:r>
              <a:rPr lang="en-US" sz="1600" dirty="0" smtClean="0">
                <a:latin typeface="Verdana"/>
                <a:ea typeface="Tahoma" panose="020B0604030504040204" pitchFamily="34" charset="0"/>
                <a:cs typeface="Verdana"/>
              </a:rPr>
              <a:t>strictly between </a:t>
            </a:r>
            <a:r>
              <a:rPr lang="en-US" sz="1600" dirty="0" smtClean="0">
                <a:latin typeface="Verdana"/>
                <a:ea typeface="Tahoma" panose="020B0604030504040204" pitchFamily="34" charset="0"/>
                <a:cs typeface="Verdana"/>
              </a:rPr>
              <a:t>0 and 1 to ensure we can decide between treatments at the individual level</a:t>
            </a:r>
          </a:p>
          <a:p>
            <a:pPr>
              <a:buBlip>
                <a:blip r:embed="rId3"/>
              </a:buBlip>
            </a:pP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</a:rPr>
              <a:t>Causal Methods:</a:t>
            </a:r>
          </a:p>
          <a:p>
            <a:pPr lvl="1">
              <a:buBlip>
                <a:blip r:embed="rId3"/>
              </a:buBlip>
            </a:pPr>
            <a:r>
              <a:rPr lang="en-US" sz="1800" dirty="0" smtClean="0">
                <a:latin typeface="Verdana"/>
                <a:ea typeface="Tahoma" panose="020B0604030504040204" pitchFamily="34" charset="0"/>
                <a:cs typeface="Verdana"/>
              </a:rPr>
              <a:t>Foundational concepts underneath the approaches taken</a:t>
            </a:r>
          </a:p>
          <a:p>
            <a:pPr lvl="1">
              <a:buBlip>
                <a:blip r:embed="rId3"/>
              </a:buBlip>
            </a:pPr>
            <a:r>
              <a:rPr lang="en-US" sz="1800" dirty="0" smtClean="0">
                <a:latin typeface="Verdana"/>
                <a:ea typeface="Tahoma" panose="020B0604030504040204" pitchFamily="34" charset="0"/>
                <a:cs typeface="Verdana"/>
              </a:rPr>
              <a:t>The potential outcome framework allows us to compare similar people (in terms of X) who experience different actions (in terms A) and how that affects outcome Y</a:t>
            </a:r>
          </a:p>
          <a:p>
            <a:pPr lvl="1">
              <a:buBlip>
                <a:blip r:embed="rId3"/>
              </a:buBlip>
            </a:pPr>
            <a:r>
              <a:rPr lang="en-US" sz="1800" dirty="0" smtClean="0">
                <a:latin typeface="Verdana"/>
                <a:ea typeface="Tahoma" panose="020B0604030504040204" pitchFamily="34" charset="0"/>
                <a:cs typeface="Verdana"/>
              </a:rPr>
              <a:t>This leads to a decision support implementation </a:t>
            </a:r>
          </a:p>
          <a:p>
            <a:pPr marL="457200" lvl="1" indent="0">
              <a:buNone/>
            </a:pPr>
            <a:r>
              <a:rPr lang="en-US" sz="1800" dirty="0">
                <a:latin typeface="Verdana"/>
                <a:ea typeface="Tahoma" panose="020B0604030504040204" pitchFamily="34" charset="0"/>
                <a:cs typeface="Verdana"/>
              </a:rPr>
              <a:t> </a:t>
            </a:r>
            <a:r>
              <a:rPr lang="en-US" sz="1800" dirty="0" smtClean="0">
                <a:latin typeface="Verdana"/>
                <a:ea typeface="Tahoma" panose="020B0604030504040204" pitchFamily="34" charset="0"/>
                <a:cs typeface="Verdana"/>
              </a:rPr>
              <a:t>   d(X) with continuing iterative improvement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8461" y="5239265"/>
            <a:ext cx="2745540" cy="163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423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NC_GILLINGS_542_transp_bg_200px_wid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28" y="155351"/>
            <a:ext cx="1219119" cy="3108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64478"/>
            <a:ext cx="9144000" cy="893754"/>
          </a:xfrm>
          <a:prstGeom prst="rect">
            <a:avLst/>
          </a:prstGeom>
          <a:solidFill>
            <a:srgbClr val="3A7E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/>
                <a:ea typeface="+mn-ea"/>
                <a:cs typeface="Gill Sans MT"/>
              </a:rPr>
              <a:t>Overall Pipeline Details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Gill Sans MT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-8238" y="1458232"/>
            <a:ext cx="9152238" cy="5399768"/>
          </a:xfrm>
        </p:spPr>
        <p:txBody>
          <a:bodyPr>
            <a:noAutofit/>
          </a:bodyPr>
          <a:lstStyle/>
          <a:p>
            <a:pPr>
              <a:buBlip>
                <a:blip r:embed="rId3"/>
              </a:buBlip>
            </a:pP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</a:rPr>
              <a:t>Dynamic Treatment Regime:</a:t>
            </a:r>
            <a:endParaRPr lang="en-US" sz="1600" dirty="0" smtClean="0">
              <a:latin typeface="Verdana"/>
              <a:ea typeface="Tahoma" panose="020B0604030504040204" pitchFamily="34" charset="0"/>
              <a:cs typeface="Verdana"/>
            </a:endParaRPr>
          </a:p>
          <a:p>
            <a:pPr lvl="1">
              <a:buBlip>
                <a:blip r:embed="rId3"/>
              </a:buBlip>
            </a:pPr>
            <a:r>
              <a:rPr lang="en-US" sz="1800" dirty="0" smtClean="0">
                <a:latin typeface="Verdana"/>
                <a:ea typeface="Tahoma" panose="020B0604030504040204" pitchFamily="34" charset="0"/>
                <a:cs typeface="Verdana"/>
              </a:rPr>
              <a:t>d(X) gives recommended A to maximize Y in future patients</a:t>
            </a:r>
          </a:p>
          <a:p>
            <a:pPr lvl="1">
              <a:buBlip>
                <a:blip r:embed="rId3"/>
              </a:buBlip>
            </a:pPr>
            <a:r>
              <a:rPr lang="en-US" sz="1800" dirty="0" smtClean="0">
                <a:latin typeface="Verdana"/>
                <a:ea typeface="Tahoma" panose="020B0604030504040204" pitchFamily="34" charset="0"/>
                <a:cs typeface="Verdana"/>
              </a:rPr>
              <a:t>Regression: model Y as a function of X and A (Q(X,A)=E[Y|X,A] is the “value”), with interaction between X and A being most important</a:t>
            </a:r>
          </a:p>
          <a:p>
            <a:pPr lvl="1">
              <a:buBlip>
                <a:blip r:embed="rId3"/>
              </a:buBlip>
            </a:pPr>
            <a:r>
              <a:rPr lang="en-US" sz="1800" dirty="0" smtClean="0">
                <a:latin typeface="Verdana"/>
                <a:ea typeface="Tahoma" panose="020B0604030504040204" pitchFamily="34" charset="0"/>
                <a:cs typeface="Verdana"/>
              </a:rPr>
              <a:t>Policy estimation: directly estimate d(X) without needing Q(X,A) (e.g., outcome weighted learning)</a:t>
            </a:r>
            <a:endParaRPr lang="en-US" sz="1800" dirty="0">
              <a:latin typeface="Verdana"/>
              <a:ea typeface="Tahoma" panose="020B0604030504040204" pitchFamily="34" charset="0"/>
              <a:cs typeface="Verdana"/>
            </a:endParaRPr>
          </a:p>
          <a:p>
            <a:pPr lvl="1">
              <a:buBlip>
                <a:blip r:embed="rId3"/>
              </a:buBlip>
            </a:pPr>
            <a:r>
              <a:rPr lang="en-US" sz="1800" dirty="0" smtClean="0">
                <a:latin typeface="Verdana"/>
                <a:ea typeface="Tahoma" panose="020B0604030504040204" pitchFamily="34" charset="0"/>
                <a:cs typeface="Verdana"/>
              </a:rPr>
              <a:t>Prediction versus prescriptive decision support:</a:t>
            </a:r>
          </a:p>
          <a:p>
            <a:pPr lvl="2">
              <a:buBlip>
                <a:blip r:embed="rId3"/>
              </a:buBlip>
            </a:pPr>
            <a:r>
              <a:rPr lang="en-US" sz="1400" dirty="0" smtClean="0">
                <a:latin typeface="Verdana"/>
                <a:ea typeface="Tahoma" panose="020B0604030504040204" pitchFamily="34" charset="0"/>
                <a:cs typeface="Verdana"/>
              </a:rPr>
              <a:t>Suppose Y=f(X)+Ag(X)+e, where bigger Y is better and A={0 or 1}</a:t>
            </a:r>
          </a:p>
          <a:p>
            <a:pPr lvl="2">
              <a:buBlip>
                <a:blip r:embed="rId3"/>
              </a:buBlip>
            </a:pPr>
            <a:r>
              <a:rPr lang="en-US" sz="1400" dirty="0" smtClean="0">
                <a:latin typeface="Verdana"/>
                <a:ea typeface="Tahoma" panose="020B0604030504040204" pitchFamily="34" charset="0"/>
                <a:cs typeface="Verdana"/>
              </a:rPr>
              <a:t>We only care about g(x), since rule d(X)={1 if g(X)&gt;0, 0 otherwise} yields optimal</a:t>
            </a:r>
          </a:p>
          <a:p>
            <a:pPr lvl="2">
              <a:buBlip>
                <a:blip r:embed="rId3"/>
              </a:buBlip>
            </a:pPr>
            <a:r>
              <a:rPr lang="en-US" sz="1400" dirty="0" smtClean="0">
                <a:latin typeface="Verdana"/>
                <a:ea typeface="Tahoma" panose="020B0604030504040204" pitchFamily="34" charset="0"/>
                <a:cs typeface="Verdana"/>
              </a:rPr>
              <a:t>A focus on prediction spends too much energy and focus on f(X) instead of g(X)</a:t>
            </a:r>
          </a:p>
          <a:p>
            <a:pPr>
              <a:buBlip>
                <a:blip r:embed="rId3"/>
              </a:buBlip>
            </a:pP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</a:rPr>
              <a:t>Propensity Score:</a:t>
            </a:r>
          </a:p>
          <a:p>
            <a:pPr lvl="1">
              <a:buBlip>
                <a:blip r:embed="rId3"/>
              </a:buBlip>
            </a:pPr>
            <a:r>
              <a:rPr lang="en-US" sz="1600" dirty="0" smtClean="0">
                <a:latin typeface="Verdana"/>
                <a:ea typeface="Tahoma" panose="020B0604030504040204" pitchFamily="34" charset="0"/>
                <a:cs typeface="Verdana"/>
              </a:rPr>
              <a:t>P(A|X) is propensity score</a:t>
            </a:r>
          </a:p>
          <a:p>
            <a:pPr lvl="1">
              <a:buBlip>
                <a:blip r:embed="rId3"/>
              </a:buBlip>
            </a:pPr>
            <a:r>
              <a:rPr lang="en-US" sz="1600" dirty="0" smtClean="0">
                <a:latin typeface="Verdana"/>
                <a:ea typeface="Tahoma" panose="020B0604030504040204" pitchFamily="34" charset="0"/>
                <a:cs typeface="Verdana"/>
              </a:rPr>
              <a:t>We estimate P(A|X) from data and make sure it is positive for all X</a:t>
            </a:r>
          </a:p>
          <a:p>
            <a:pPr>
              <a:buBlip>
                <a:blip r:embed="rId3"/>
              </a:buBlip>
            </a:pP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</a:rPr>
              <a:t>Causal Methods:</a:t>
            </a:r>
          </a:p>
          <a:p>
            <a:pPr lvl="1">
              <a:buBlip>
                <a:blip r:embed="rId3"/>
              </a:buBlip>
            </a:pPr>
            <a:r>
              <a:rPr lang="en-US" sz="1800" dirty="0" smtClean="0">
                <a:latin typeface="Verdana"/>
                <a:ea typeface="Tahoma" panose="020B0604030504040204" pitchFamily="34" charset="0"/>
                <a:cs typeface="Verdana"/>
              </a:rPr>
              <a:t>Potential outcome validity (Y(0) and Y(1) are well behaved)</a:t>
            </a:r>
          </a:p>
          <a:p>
            <a:pPr lvl="1">
              <a:buBlip>
                <a:blip r:embed="rId3"/>
              </a:buBlip>
            </a:pPr>
            <a:r>
              <a:rPr lang="en-US" sz="1800" dirty="0" smtClean="0">
                <a:latin typeface="Verdana"/>
                <a:ea typeface="Tahoma" panose="020B0604030504040204" pitchFamily="34" charset="0"/>
                <a:cs typeface="Verdana"/>
              </a:rPr>
              <a:t>No unmeasured confounders: Y(0) and Y(1) are independent given X</a:t>
            </a:r>
          </a:p>
          <a:p>
            <a:pPr lvl="1">
              <a:buBlip>
                <a:blip r:embed="rId3"/>
              </a:buBlip>
            </a:pPr>
            <a:r>
              <a:rPr lang="en-US" sz="1800" dirty="0" smtClean="0">
                <a:latin typeface="Verdana"/>
                <a:ea typeface="Tahoma" panose="020B0604030504040204" pitchFamily="34" charset="0"/>
                <a:cs typeface="Verdana"/>
              </a:rPr>
              <a:t>Positivity assumption (P(A|X)&gt;0 for all X)</a:t>
            </a:r>
          </a:p>
        </p:txBody>
      </p:sp>
    </p:spTree>
    <p:extLst>
      <p:ext uri="{BB962C8B-B14F-4D97-AF65-F5344CB8AC3E}">
        <p14:creationId xmlns:p14="http://schemas.microsoft.com/office/powerpoint/2010/main" val="667848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NC_GILLINGS_542_transp_bg_200px_wid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28" y="155351"/>
            <a:ext cx="1219119" cy="3108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64478"/>
            <a:ext cx="9144000" cy="893754"/>
          </a:xfrm>
          <a:prstGeom prst="rect">
            <a:avLst/>
          </a:prstGeom>
          <a:solidFill>
            <a:srgbClr val="3A7E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Gill Sans MT"/>
                <a:cs typeface="Gill Sans MT"/>
              </a:rPr>
              <a:t>Machine Learning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0" y="1532757"/>
            <a:ext cx="9017876" cy="5213100"/>
          </a:xfrm>
        </p:spPr>
        <p:txBody>
          <a:bodyPr>
            <a:noAutofit/>
          </a:bodyPr>
          <a:lstStyle/>
          <a:p>
            <a:pPr>
              <a:buBlip>
                <a:blip r:embed="rId3"/>
              </a:buBlip>
            </a:pPr>
            <a:r>
              <a:rPr lang="en-US" dirty="0">
                <a:latin typeface="Verdana"/>
                <a:ea typeface="Tahoma" panose="020B0604030504040204" pitchFamily="34" charset="0"/>
                <a:cs typeface="Verdana"/>
              </a:rPr>
              <a:t>Methods of statistical analysis</a:t>
            </a:r>
          </a:p>
          <a:p>
            <a:pPr>
              <a:buBlip>
                <a:blip r:embed="rId3"/>
              </a:buBlip>
            </a:pPr>
            <a:r>
              <a:rPr lang="en-US" dirty="0">
                <a:latin typeface="Verdana"/>
                <a:ea typeface="Tahoma" panose="020B0604030504040204" pitchFamily="34" charset="0"/>
                <a:cs typeface="Verdana"/>
              </a:rPr>
              <a:t>Possible tasks:</a:t>
            </a:r>
          </a:p>
          <a:p>
            <a:pPr lvl="1">
              <a:buBlip>
                <a:blip r:embed="rId3"/>
              </a:buBlip>
            </a:pPr>
            <a:r>
              <a:rPr lang="en-US" dirty="0">
                <a:latin typeface="Verdana"/>
                <a:ea typeface="Tahoma" panose="020B0604030504040204" pitchFamily="34" charset="0"/>
                <a:cs typeface="Verdana"/>
              </a:rPr>
              <a:t>Unsupervised learning (e.g., clustering)</a:t>
            </a:r>
          </a:p>
          <a:p>
            <a:pPr lvl="1">
              <a:buBlip>
                <a:blip r:embed="rId3"/>
              </a:buBlip>
            </a:pPr>
            <a:r>
              <a:rPr lang="en-US" dirty="0">
                <a:latin typeface="Verdana"/>
                <a:ea typeface="Tahoma" panose="020B0604030504040204" pitchFamily="34" charset="0"/>
                <a:cs typeface="Verdana"/>
              </a:rPr>
              <a:t>Supervised learning (e.g., classification, regression, data-drive decision making)</a:t>
            </a:r>
          </a:p>
          <a:p>
            <a:pPr lvl="1">
              <a:buBlip>
                <a:blip r:embed="rId3"/>
              </a:buBlip>
            </a:pPr>
            <a:r>
              <a:rPr lang="en-US" dirty="0">
                <a:latin typeface="Verdana"/>
                <a:ea typeface="Tahoma" panose="020B0604030504040204" pitchFamily="34" charset="0"/>
                <a:cs typeface="Verdana"/>
              </a:rPr>
              <a:t>Partly supervised, and more</a:t>
            </a:r>
          </a:p>
          <a:p>
            <a:pPr>
              <a:buBlip>
                <a:blip r:embed="rId3"/>
              </a:buBlip>
            </a:pPr>
            <a:r>
              <a:rPr lang="en-US" dirty="0">
                <a:latin typeface="Verdana"/>
                <a:ea typeface="Tahoma" panose="020B0604030504040204" pitchFamily="34" charset="0"/>
                <a:cs typeface="Verdana"/>
              </a:rPr>
              <a:t>Statistical aspects:</a:t>
            </a:r>
          </a:p>
          <a:p>
            <a:pPr lvl="1">
              <a:buBlip>
                <a:blip r:embed="rId3"/>
              </a:buBlip>
            </a:pPr>
            <a:r>
              <a:rPr lang="en-US" dirty="0">
                <a:latin typeface="Verdana"/>
                <a:ea typeface="Tahoma" panose="020B0604030504040204" pitchFamily="34" charset="0"/>
                <a:cs typeface="Verdana"/>
              </a:rPr>
              <a:t>Will the method provide results </a:t>
            </a:r>
          </a:p>
          <a:p>
            <a:pPr marL="457200" lvl="1" indent="0">
              <a:buNone/>
            </a:pPr>
            <a:r>
              <a:rPr lang="en-US" dirty="0">
                <a:latin typeface="Verdana"/>
                <a:ea typeface="Tahoma" panose="020B0604030504040204" pitchFamily="34" charset="0"/>
                <a:cs typeface="Verdana"/>
              </a:rPr>
              <a:t>   reflecting the real world (reproducible)?</a:t>
            </a:r>
          </a:p>
          <a:p>
            <a:pPr lvl="1">
              <a:buBlip>
                <a:blip r:embed="rId3"/>
              </a:buBlip>
            </a:pPr>
            <a:r>
              <a:rPr lang="en-US" dirty="0">
                <a:latin typeface="Verdana"/>
                <a:ea typeface="Tahoma" panose="020B0604030504040204" pitchFamily="34" charset="0"/>
                <a:cs typeface="Verdana"/>
              </a:rPr>
              <a:t>Discovery vs. validation/confirmation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854"/>
          <a:stretch/>
        </p:blipFill>
        <p:spPr>
          <a:xfrm>
            <a:off x="7419975" y="4114800"/>
            <a:ext cx="1724025" cy="174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160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NC_GILLINGS_542_transp_bg_200px_wid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28" y="155351"/>
            <a:ext cx="1219119" cy="3108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64478"/>
            <a:ext cx="9144000" cy="893754"/>
          </a:xfrm>
          <a:prstGeom prst="rect">
            <a:avLst/>
          </a:prstGeom>
          <a:solidFill>
            <a:srgbClr val="3A7E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Gill Sans MT"/>
                <a:cs typeface="Gill Sans MT"/>
              </a:rPr>
              <a:t>Machine Learning (cont.)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0" y="1532757"/>
            <a:ext cx="9017876" cy="5325243"/>
          </a:xfrm>
        </p:spPr>
        <p:txBody>
          <a:bodyPr>
            <a:noAutofit/>
          </a:bodyPr>
          <a:lstStyle/>
          <a:p>
            <a:pPr>
              <a:buBlip>
                <a:blip r:embed="rId3"/>
              </a:buBlip>
            </a:pPr>
            <a:r>
              <a:rPr lang="en-US" dirty="0">
                <a:latin typeface="Verdana"/>
                <a:ea typeface="Tahoma" panose="020B0604030504040204" pitchFamily="34" charset="0"/>
                <a:cs typeface="Verdana"/>
              </a:rPr>
              <a:t>Additional tasks/tools:</a:t>
            </a:r>
          </a:p>
          <a:p>
            <a:pPr lvl="1">
              <a:buBlip>
                <a:blip r:embed="rId3"/>
              </a:buBlip>
            </a:pPr>
            <a:r>
              <a:rPr lang="en-US" dirty="0">
                <a:latin typeface="Verdana"/>
                <a:ea typeface="Tahoma" panose="020B0604030504040204" pitchFamily="34" charset="0"/>
                <a:cs typeface="Verdana"/>
              </a:rPr>
              <a:t>Reinforcement learning</a:t>
            </a:r>
          </a:p>
          <a:p>
            <a:pPr lvl="2">
              <a:buBlip>
                <a:blip r:embed="rId3"/>
              </a:buBlip>
            </a:pPr>
            <a:r>
              <a:rPr lang="en-US" dirty="0">
                <a:latin typeface="Verdana"/>
                <a:ea typeface="Tahoma" panose="020B0604030504040204" pitchFamily="34" charset="0"/>
                <a:cs typeface="Verdana"/>
              </a:rPr>
              <a:t>On-policy versus off-policy</a:t>
            </a:r>
          </a:p>
          <a:p>
            <a:pPr lvl="1">
              <a:buBlip>
                <a:blip r:embed="rId3"/>
              </a:buBlip>
            </a:pPr>
            <a:r>
              <a:rPr lang="en-US" dirty="0">
                <a:latin typeface="Verdana"/>
                <a:ea typeface="Tahoma" panose="020B0604030504040204" pitchFamily="34" charset="0"/>
                <a:cs typeface="Verdana"/>
              </a:rPr>
              <a:t>Deep learning</a:t>
            </a:r>
          </a:p>
          <a:p>
            <a:pPr lvl="1">
              <a:buBlip>
                <a:blip r:embed="rId3"/>
              </a:buBlip>
            </a:pPr>
            <a:r>
              <a:rPr lang="en-US" dirty="0">
                <a:latin typeface="Verdana"/>
                <a:ea typeface="Tahoma" panose="020B0604030504040204" pitchFamily="34" charset="0"/>
                <a:cs typeface="Verdana"/>
              </a:rPr>
              <a:t>Causal inference</a:t>
            </a:r>
          </a:p>
          <a:p>
            <a:pPr>
              <a:buBlip>
                <a:blip r:embed="rId3"/>
              </a:buBlip>
            </a:pPr>
            <a:r>
              <a:rPr lang="en-US" dirty="0">
                <a:latin typeface="Verdana"/>
                <a:ea typeface="Tahoma" panose="020B0604030504040204" pitchFamily="34" charset="0"/>
                <a:cs typeface="Verdana"/>
              </a:rPr>
              <a:t>Facilitate precision medicine:</a:t>
            </a:r>
          </a:p>
          <a:p>
            <a:pPr lvl="1">
              <a:buBlip>
                <a:blip r:embed="rId3"/>
              </a:buBlip>
            </a:pPr>
            <a:r>
              <a:rPr lang="en-US" dirty="0">
                <a:latin typeface="Verdana"/>
                <a:ea typeface="Tahoma" panose="020B0604030504040204" pitchFamily="34" charset="0"/>
                <a:cs typeface="Verdana"/>
              </a:rPr>
              <a:t>Discover dynamic treatment regimes (DTRs) to be described below</a:t>
            </a:r>
          </a:p>
          <a:p>
            <a:pPr lvl="1">
              <a:buBlip>
                <a:blip r:embed="rId3"/>
              </a:buBlip>
            </a:pPr>
            <a:r>
              <a:rPr lang="en-US" dirty="0">
                <a:latin typeface="Verdana"/>
                <a:ea typeface="Tahoma" panose="020B0604030504040204" pitchFamily="34" charset="0"/>
                <a:cs typeface="Verdana"/>
              </a:rPr>
              <a:t>Evaluate and validate discoveries (statistical)</a:t>
            </a:r>
          </a:p>
          <a:p>
            <a:pPr lvl="1">
              <a:buBlip>
                <a:blip r:embed="rId3"/>
              </a:buBlip>
            </a:pPr>
            <a:r>
              <a:rPr lang="en-US" dirty="0">
                <a:latin typeface="Verdana"/>
                <a:ea typeface="Tahoma" panose="020B0604030504040204" pitchFamily="34" charset="0"/>
                <a:cs typeface="Verdana"/>
              </a:rPr>
              <a:t>Implement in practice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5211" y="1458231"/>
            <a:ext cx="3698789" cy="208056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31958" y="3598221"/>
            <a:ext cx="3712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AlphaGo</a:t>
            </a:r>
            <a:r>
              <a:rPr lang="en-US" dirty="0" smtClean="0"/>
              <a:t> AI becomes world champion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598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NC_GILLINGS_542_transp_bg_200px_wid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28" y="155351"/>
            <a:ext cx="1219119" cy="3108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64478"/>
            <a:ext cx="9144000" cy="893754"/>
          </a:xfrm>
          <a:prstGeom prst="rect">
            <a:avLst/>
          </a:prstGeom>
          <a:solidFill>
            <a:srgbClr val="3A7E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latin typeface="Gill Sans MT"/>
                <a:cs typeface="Gill Sans MT"/>
              </a:rPr>
              <a:t>DTR Estimation</a:t>
            </a:r>
            <a:endParaRPr lang="en-US" sz="3600" b="1" dirty="0">
              <a:latin typeface="Gill Sans MT"/>
              <a:cs typeface="Gill Sans MT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0" y="1538341"/>
            <a:ext cx="9017876" cy="5123543"/>
          </a:xfrm>
        </p:spPr>
        <p:txBody>
          <a:bodyPr>
            <a:noAutofit/>
          </a:bodyPr>
          <a:lstStyle/>
          <a:p>
            <a:pPr>
              <a:buBlip>
                <a:blip r:embed="rId3"/>
              </a:buBlip>
            </a:pP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Single-decision setting:</a:t>
            </a:r>
          </a:p>
          <a:p>
            <a:pPr lvl="1">
              <a:buBlip>
                <a:blip r:embed="rId3"/>
              </a:buBlip>
            </a:pP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Regression and maximization</a:t>
            </a:r>
          </a:p>
          <a:p>
            <a:pPr lvl="1">
              <a:buBlip>
                <a:blip r:embed="rId3"/>
              </a:buBlip>
            </a:pP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Frequentist and Bayesian tools can be used (both good, but some non-Bayesian is better when data is high dimensional)</a:t>
            </a:r>
          </a:p>
          <a:p>
            <a:pPr lvl="1">
              <a:buBlip>
                <a:blip r:embed="rId3"/>
              </a:buBlip>
            </a:pP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Machine learning </a:t>
            </a:r>
            <a:r>
              <a:rPr lang="en-US" sz="2400" dirty="0" smtClean="0">
                <a:latin typeface="Verdana"/>
                <a:ea typeface="Tahoma" panose="020B0604030504040204" pitchFamily="34" charset="0"/>
                <a:cs typeface="Verdana"/>
              </a:rPr>
              <a:t>is very helpful</a:t>
            </a:r>
            <a:endParaRPr lang="en-US" sz="2400" dirty="0">
              <a:latin typeface="Verdana"/>
              <a:ea typeface="Tahoma" panose="020B0604030504040204" pitchFamily="34" charset="0"/>
              <a:cs typeface="Verdana"/>
            </a:endParaRPr>
          </a:p>
          <a:p>
            <a:pPr>
              <a:buBlip>
                <a:blip r:embed="rId3"/>
              </a:buBlip>
            </a:pP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Multi-decision setting:</a:t>
            </a:r>
          </a:p>
          <a:p>
            <a:pPr lvl="1">
              <a:buBlip>
                <a:blip r:embed="rId3"/>
              </a:buBlip>
            </a:pP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Need reinforcement learning</a:t>
            </a:r>
          </a:p>
          <a:p>
            <a:pPr lvl="1">
              <a:buBlip>
                <a:blip r:embed="rId3"/>
              </a:buBlip>
            </a:pP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Q-learning is especially useful</a:t>
            </a:r>
          </a:p>
          <a:p>
            <a:pPr lvl="1">
              <a:buBlip>
                <a:blip r:embed="rId3"/>
              </a:buBlip>
            </a:pP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Q-learning involves a sequence of standard regressions: random forests are good here</a:t>
            </a:r>
          </a:p>
          <a:p>
            <a:pPr lvl="1">
              <a:buBlip>
                <a:blip r:embed="rId3"/>
              </a:buBlip>
            </a:pP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There is software for </a:t>
            </a:r>
            <a:r>
              <a:rPr lang="en-US" sz="2400" dirty="0" smtClean="0">
                <a:latin typeface="Verdana"/>
                <a:ea typeface="Tahoma" panose="020B0604030504040204" pitchFamily="34" charset="0"/>
                <a:cs typeface="Verdana"/>
              </a:rPr>
              <a:t>this </a:t>
            </a: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(in R mostly)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613" y="3296987"/>
            <a:ext cx="2719387" cy="284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905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NC_GILLINGS_542_transp_bg_200px_wid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28" y="155351"/>
            <a:ext cx="1219119" cy="3108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64478"/>
            <a:ext cx="9144000" cy="893754"/>
          </a:xfrm>
          <a:prstGeom prst="rect">
            <a:avLst/>
          </a:prstGeom>
          <a:solidFill>
            <a:srgbClr val="3A7E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Gill Sans MT"/>
                <a:cs typeface="Gill Sans MT"/>
              </a:rPr>
              <a:t>Recent Developments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0" y="1458232"/>
            <a:ext cx="9144000" cy="5399768"/>
          </a:xfrm>
        </p:spPr>
        <p:txBody>
          <a:bodyPr>
            <a:noAutofit/>
          </a:bodyPr>
          <a:lstStyle/>
          <a:p>
            <a:pPr>
              <a:buBlip>
                <a:blip r:embed="rId3"/>
              </a:buBlip>
            </a:pP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Outcome weighted learning (OWL):</a:t>
            </a:r>
          </a:p>
          <a:p>
            <a:pPr lvl="1">
              <a:buBlip>
                <a:blip r:embed="rId3"/>
              </a:buBlip>
            </a:pP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Let patient tailoring features be </a:t>
            </a:r>
            <a:r>
              <a:rPr lang="en-US" sz="2400" i="1" dirty="0">
                <a:latin typeface="Verdana"/>
                <a:ea typeface="Tahoma" panose="020B0604030504040204" pitchFamily="34" charset="0"/>
                <a:cs typeface="Verdana"/>
              </a:rPr>
              <a:t>X</a:t>
            </a: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, treatment received </a:t>
            </a:r>
            <a:r>
              <a:rPr lang="en-US" sz="2400" i="1" dirty="0">
                <a:latin typeface="Verdana"/>
                <a:ea typeface="Tahoma" panose="020B0604030504040204" pitchFamily="34" charset="0"/>
                <a:cs typeface="Verdana"/>
              </a:rPr>
              <a:t>A</a:t>
            </a: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, and outcome of interest </a:t>
            </a:r>
            <a:r>
              <a:rPr lang="en-US" sz="2400" i="1" dirty="0">
                <a:latin typeface="Verdana"/>
                <a:ea typeface="Tahoma" panose="020B0604030504040204" pitchFamily="34" charset="0"/>
                <a:cs typeface="Verdana"/>
              </a:rPr>
              <a:t>Y</a:t>
            </a:r>
          </a:p>
          <a:p>
            <a:pPr lvl="1">
              <a:buBlip>
                <a:blip r:embed="rId3"/>
              </a:buBlip>
            </a:pP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Standard regression approach: model </a:t>
            </a:r>
            <a:r>
              <a:rPr lang="en-US" sz="2400" i="1" dirty="0">
                <a:latin typeface="Verdana"/>
                <a:ea typeface="Tahoma" panose="020B0604030504040204" pitchFamily="34" charset="0"/>
                <a:cs typeface="Verdana"/>
              </a:rPr>
              <a:t>Y</a:t>
            </a: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 using </a:t>
            </a:r>
            <a:r>
              <a:rPr lang="en-US" sz="2400" i="1" dirty="0">
                <a:latin typeface="Verdana"/>
                <a:ea typeface="Tahoma" panose="020B0604030504040204" pitchFamily="34" charset="0"/>
                <a:cs typeface="Verdana"/>
              </a:rPr>
              <a:t>X</a:t>
            </a: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 and </a:t>
            </a:r>
            <a:r>
              <a:rPr lang="en-US" sz="2400" i="1" dirty="0">
                <a:latin typeface="Verdana"/>
                <a:ea typeface="Tahoma" panose="020B0604030504040204" pitchFamily="34" charset="0"/>
                <a:cs typeface="Verdana"/>
              </a:rPr>
              <a:t>A</a:t>
            </a: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 as predictors (and include interactions)</a:t>
            </a:r>
          </a:p>
          <a:p>
            <a:pPr lvl="1">
              <a:buBlip>
                <a:blip r:embed="rId3"/>
              </a:buBlip>
            </a:pP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OWL: convert to classification problem of predicting </a:t>
            </a:r>
            <a:r>
              <a:rPr lang="en-US" sz="2400" i="1" dirty="0">
                <a:latin typeface="Verdana"/>
                <a:ea typeface="Tahoma" panose="020B0604030504040204" pitchFamily="34" charset="0"/>
                <a:cs typeface="Verdana"/>
              </a:rPr>
              <a:t>A</a:t>
            </a: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 from </a:t>
            </a:r>
            <a:r>
              <a:rPr lang="en-US" sz="2400" i="1" dirty="0">
                <a:latin typeface="Verdana"/>
                <a:ea typeface="Tahoma" panose="020B0604030504040204" pitchFamily="34" charset="0"/>
                <a:cs typeface="Verdana"/>
              </a:rPr>
              <a:t>X</a:t>
            </a: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 weighted by </a:t>
            </a:r>
            <a:r>
              <a:rPr lang="en-US" sz="2400" i="1" dirty="0">
                <a:latin typeface="Verdana"/>
                <a:ea typeface="Tahoma" panose="020B0604030504040204" pitchFamily="34" charset="0"/>
                <a:cs typeface="Verdana"/>
              </a:rPr>
              <a:t>Y</a:t>
            </a: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 (avoids regression model)</a:t>
            </a:r>
          </a:p>
          <a:p>
            <a:pPr>
              <a:buBlip>
                <a:blip r:embed="rId3"/>
              </a:buBlip>
            </a:pP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Benefits of OWL:</a:t>
            </a:r>
          </a:p>
          <a:p>
            <a:pPr lvl="1">
              <a:buBlip>
                <a:blip r:embed="rId3"/>
              </a:buBlip>
            </a:pP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Converts problem to a classification task which can employ machine learning (such as SVM)</a:t>
            </a:r>
          </a:p>
          <a:p>
            <a:pPr lvl="1">
              <a:buBlip>
                <a:blip r:embed="rId3"/>
              </a:buBlip>
            </a:pP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Robust to regression model specification</a:t>
            </a:r>
          </a:p>
          <a:p>
            <a:pPr lvl="1">
              <a:buBlip>
                <a:blip r:embed="rId3"/>
              </a:buBlip>
            </a:pP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Performs very well in many </a:t>
            </a:r>
            <a:r>
              <a:rPr lang="en-US" sz="2400" dirty="0" smtClean="0">
                <a:latin typeface="Verdana"/>
                <a:ea typeface="Tahoma" panose="020B0604030504040204" pitchFamily="34" charset="0"/>
                <a:cs typeface="Verdana"/>
              </a:rPr>
              <a:t>situations</a:t>
            </a:r>
          </a:p>
          <a:p>
            <a:pPr lvl="1">
              <a:buBlip>
                <a:blip r:embed="rId3"/>
              </a:buBlip>
            </a:pPr>
            <a:r>
              <a:rPr lang="en-US" sz="2400" dirty="0" smtClean="0">
                <a:latin typeface="Verdana"/>
                <a:ea typeface="Tahoma" panose="020B0604030504040204" pitchFamily="34" charset="0"/>
                <a:cs typeface="Verdana"/>
              </a:rPr>
              <a:t>Many extensions</a:t>
            </a:r>
            <a:endParaRPr lang="en-US" sz="2400" dirty="0">
              <a:latin typeface="Verdana"/>
              <a:ea typeface="Tahoma" panose="020B0604030504040204" pitchFamily="34" charset="0"/>
              <a:cs typeface="Verdan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2951" y="5280696"/>
            <a:ext cx="1235676" cy="157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666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NC_GILLINGS_542_transp_bg_200px_wid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28" y="155351"/>
            <a:ext cx="1219119" cy="3108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64478"/>
            <a:ext cx="9144000" cy="893754"/>
          </a:xfrm>
          <a:prstGeom prst="rect">
            <a:avLst/>
          </a:prstGeom>
          <a:solidFill>
            <a:srgbClr val="3A7E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Gill Sans MT"/>
                <a:cs typeface="Gill Sans MT"/>
              </a:rPr>
              <a:t>Recent Developments, cont.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0" y="1461071"/>
            <a:ext cx="9017876" cy="5396929"/>
          </a:xfrm>
        </p:spPr>
        <p:txBody>
          <a:bodyPr>
            <a:noAutofit/>
          </a:bodyPr>
          <a:lstStyle/>
          <a:p>
            <a:pPr>
              <a:buBlip>
                <a:blip r:embed="rId3"/>
              </a:buBlip>
            </a:pP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Extensions of OWL:</a:t>
            </a:r>
          </a:p>
          <a:p>
            <a:pPr lvl="1">
              <a:buBlip>
                <a:blip r:embed="rId3"/>
              </a:buBlip>
            </a:pP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Time-to-event outcomes with censoring</a:t>
            </a:r>
          </a:p>
          <a:p>
            <a:pPr lvl="1">
              <a:buBlip>
                <a:blip r:embed="rId3"/>
              </a:buBlip>
            </a:pP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Continuous treatment (such as dose)</a:t>
            </a:r>
          </a:p>
          <a:p>
            <a:pPr lvl="1">
              <a:buBlip>
                <a:blip r:embed="rId3"/>
              </a:buBlip>
            </a:pP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Multi-decision setting</a:t>
            </a:r>
          </a:p>
          <a:p>
            <a:pPr lvl="2">
              <a:buBlip>
                <a:blip r:embed="rId3"/>
              </a:buBlip>
            </a:pPr>
            <a:r>
              <a:rPr lang="en-US" sz="2000" dirty="0">
                <a:latin typeface="Verdana"/>
                <a:ea typeface="Tahoma" panose="020B0604030504040204" pitchFamily="34" charset="0"/>
                <a:cs typeface="Verdana"/>
              </a:rPr>
              <a:t>Finite horizon</a:t>
            </a:r>
          </a:p>
          <a:p>
            <a:pPr lvl="2">
              <a:buBlip>
                <a:blip r:embed="rId3"/>
              </a:buBlip>
            </a:pPr>
            <a:r>
              <a:rPr lang="en-US" sz="2000" dirty="0">
                <a:latin typeface="Verdana"/>
                <a:ea typeface="Tahoma" panose="020B0604030504040204" pitchFamily="34" charset="0"/>
                <a:cs typeface="Verdana"/>
              </a:rPr>
              <a:t>Infinite (indefinite) horizon (V-learning)</a:t>
            </a:r>
          </a:p>
          <a:p>
            <a:pPr>
              <a:buBlip>
                <a:blip r:embed="rId3"/>
              </a:buBlip>
            </a:pP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Other developments:</a:t>
            </a:r>
          </a:p>
          <a:p>
            <a:pPr lvl="1">
              <a:buBlip>
                <a:blip r:embed="rId3"/>
              </a:buBlip>
            </a:pP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Managing multiple competing outcomes</a:t>
            </a:r>
          </a:p>
          <a:p>
            <a:pPr lvl="1">
              <a:buBlip>
                <a:blip r:embed="rId3"/>
              </a:buBlip>
            </a:pP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Inverse reinforcement learning for precision medicine</a:t>
            </a:r>
          </a:p>
          <a:p>
            <a:pPr lvl="1">
              <a:buBlip>
                <a:blip r:embed="rId3"/>
              </a:buBlip>
            </a:pP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Adaptive study designs for precision medicine which integrate with machine learning (e.g. Thompson sampling)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179648" y="3015048"/>
                <a:ext cx="1267527" cy="14773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600" b="0" i="1" smtClean="0"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9648" y="3015048"/>
                <a:ext cx="1267527" cy="14773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6626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NC_GILLINGS_542_transp_bg_200px_wid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28" y="155351"/>
            <a:ext cx="1219119" cy="3108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64478"/>
            <a:ext cx="9144000" cy="893754"/>
          </a:xfrm>
          <a:prstGeom prst="rect">
            <a:avLst/>
          </a:prstGeom>
          <a:solidFill>
            <a:srgbClr val="3A7E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Gill Sans MT"/>
                <a:cs typeface="Gill Sans MT"/>
              </a:rPr>
              <a:t>Recent Developments, cont.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0" y="1461071"/>
            <a:ext cx="9144000" cy="5396929"/>
          </a:xfrm>
        </p:spPr>
        <p:txBody>
          <a:bodyPr>
            <a:noAutofit/>
          </a:bodyPr>
          <a:lstStyle/>
          <a:p>
            <a:pPr>
              <a:buBlip>
                <a:blip r:embed="rId3"/>
              </a:buBlip>
            </a:pPr>
            <a:r>
              <a:rPr lang="en-US" sz="2400" dirty="0" smtClean="0">
                <a:latin typeface="Verdana"/>
                <a:ea typeface="Tahoma" panose="020B0604030504040204" pitchFamily="34" charset="0"/>
                <a:cs typeface="Verdana"/>
              </a:rPr>
              <a:t>Counterfactual Gaussian processes:</a:t>
            </a:r>
            <a:endParaRPr lang="en-US" sz="2400" dirty="0">
              <a:latin typeface="Verdana"/>
              <a:ea typeface="Tahoma" panose="020B0604030504040204" pitchFamily="34" charset="0"/>
              <a:cs typeface="Verdana"/>
            </a:endParaRPr>
          </a:p>
          <a:p>
            <a:pPr lvl="1">
              <a:buBlip>
                <a:blip r:embed="rId3"/>
              </a:buBlip>
            </a:pPr>
            <a:r>
              <a:rPr lang="en-US" sz="2000" dirty="0" err="1" smtClean="0">
                <a:latin typeface="Verdana"/>
                <a:ea typeface="Tahoma" panose="020B0604030504040204" pitchFamily="34" charset="0"/>
                <a:cs typeface="Verdana"/>
              </a:rPr>
              <a:t>Schulam</a:t>
            </a: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</a:rPr>
              <a:t> P and Saria S (2017). Reliable decision support using counterfactual models. </a:t>
            </a:r>
            <a:r>
              <a:rPr lang="en-US" sz="2000" i="1" dirty="0" smtClean="0">
                <a:latin typeface="Verdana"/>
                <a:ea typeface="Tahoma" panose="020B0604030504040204" pitchFamily="34" charset="0"/>
                <a:cs typeface="Verdana"/>
              </a:rPr>
              <a:t>Neural Information Processing Systems (NIPS).</a:t>
            </a:r>
            <a:endParaRPr lang="en-US" sz="2000" dirty="0" smtClean="0">
              <a:latin typeface="Verdana"/>
              <a:ea typeface="Tahoma" panose="020B0604030504040204" pitchFamily="34" charset="0"/>
              <a:cs typeface="Verdana"/>
            </a:endParaRPr>
          </a:p>
          <a:p>
            <a:pPr lvl="1">
              <a:buBlip>
                <a:blip r:embed="rId3"/>
              </a:buBlip>
            </a:pP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</a:rPr>
              <a:t>Potential outcome-based prediction of treatment effects</a:t>
            </a:r>
            <a:endParaRPr lang="en-US" sz="2400" dirty="0">
              <a:latin typeface="Verdana"/>
              <a:ea typeface="Tahoma" panose="020B0604030504040204" pitchFamily="34" charset="0"/>
              <a:cs typeface="Verdana"/>
            </a:endParaRPr>
          </a:p>
          <a:p>
            <a:pPr>
              <a:buBlip>
                <a:blip r:embed="rId3"/>
              </a:buBlip>
            </a:pPr>
            <a:r>
              <a:rPr lang="en-US" sz="2400" dirty="0" smtClean="0">
                <a:latin typeface="Verdana"/>
                <a:ea typeface="Tahoma" panose="020B0604030504040204" pitchFamily="34" charset="0"/>
                <a:cs typeface="Verdana"/>
              </a:rPr>
              <a:t>Outcome Weighted Deep Learning:</a:t>
            </a:r>
          </a:p>
          <a:p>
            <a:pPr lvl="1">
              <a:buBlip>
                <a:blip r:embed="rId3"/>
              </a:buBlip>
            </a:pP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</a:rPr>
              <a:t>Liang M, Ye T, and Fu H (2018). Estimating individualized optimal combination therapies through outcome weighted deep learning algorithms. </a:t>
            </a:r>
            <a:r>
              <a:rPr lang="en-US" sz="2000" i="1" dirty="0" smtClean="0">
                <a:latin typeface="Verdana"/>
                <a:ea typeface="Tahoma" panose="020B0604030504040204" pitchFamily="34" charset="0"/>
                <a:cs typeface="Verdana"/>
              </a:rPr>
              <a:t>Statistics in Medicine </a:t>
            </a: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</a:rPr>
              <a:t>37:3869-3886.</a:t>
            </a:r>
          </a:p>
          <a:p>
            <a:pPr lvl="1">
              <a:buBlip>
                <a:blip r:embed="rId3"/>
              </a:buBlip>
            </a:pP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</a:rPr>
              <a:t>Powerfully flexible single-decision setting discovery</a:t>
            </a:r>
          </a:p>
          <a:p>
            <a:pPr>
              <a:buBlip>
                <a:blip r:embed="rId3"/>
              </a:buBlip>
            </a:pPr>
            <a:r>
              <a:rPr lang="en-US" sz="2400" dirty="0" smtClean="0">
                <a:latin typeface="Verdana"/>
                <a:ea typeface="Tahoma" panose="020B0604030504040204" pitchFamily="34" charset="0"/>
                <a:cs typeface="Verdana"/>
              </a:rPr>
              <a:t>Off-Policy Deep Reinforcement Learning:</a:t>
            </a:r>
            <a:endParaRPr lang="en-US" sz="2400" dirty="0">
              <a:latin typeface="Verdana"/>
              <a:ea typeface="Tahoma" panose="020B0604030504040204" pitchFamily="34" charset="0"/>
              <a:cs typeface="Verdana"/>
            </a:endParaRPr>
          </a:p>
          <a:p>
            <a:pPr lvl="1">
              <a:buBlip>
                <a:blip r:embed="rId3"/>
              </a:buBlip>
            </a:pP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</a:rPr>
              <a:t>Fujimoto S, </a:t>
            </a:r>
            <a:r>
              <a:rPr lang="en-US" sz="2000" dirty="0" err="1" smtClean="0">
                <a:latin typeface="Verdana"/>
                <a:ea typeface="Tahoma" panose="020B0604030504040204" pitchFamily="34" charset="0"/>
                <a:cs typeface="Verdana"/>
              </a:rPr>
              <a:t>Meger</a:t>
            </a: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</a:rPr>
              <a:t> D, and </a:t>
            </a:r>
            <a:r>
              <a:rPr lang="en-US" sz="2000" dirty="0" err="1" smtClean="0">
                <a:latin typeface="Verdana"/>
                <a:ea typeface="Tahoma" panose="020B0604030504040204" pitchFamily="34" charset="0"/>
                <a:cs typeface="Verdana"/>
              </a:rPr>
              <a:t>Precup</a:t>
            </a: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</a:rPr>
              <a:t> D (2018). Off-policy </a:t>
            </a:r>
          </a:p>
          <a:p>
            <a:pPr marL="457200" lvl="1" indent="0">
              <a:buNone/>
            </a:pP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</a:rPr>
              <a:t>   deep reinforcement learning </a:t>
            </a:r>
            <a:r>
              <a:rPr lang="en-US" sz="2000" dirty="0">
                <a:latin typeface="Verdana"/>
                <a:ea typeface="Tahoma" panose="020B0604030504040204" pitchFamily="34" charset="0"/>
                <a:cs typeface="Verdana"/>
              </a:rPr>
              <a:t>without exploration.  </a:t>
            </a: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</a:rPr>
              <a:t>  </a:t>
            </a:r>
          </a:p>
          <a:p>
            <a:pPr marL="457200" lvl="1" indent="0">
              <a:buNone/>
            </a:pPr>
            <a:r>
              <a:rPr lang="en-US" sz="2000" dirty="0">
                <a:latin typeface="Verdana"/>
                <a:ea typeface="Tahoma" panose="020B0604030504040204" pitchFamily="34" charset="0"/>
                <a:cs typeface="Verdana"/>
              </a:rPr>
              <a:t> </a:t>
            </a: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</a:rPr>
              <a:t>  arXiv:1812.02900v2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479" y="5354595"/>
            <a:ext cx="1403521" cy="140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952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NC_GILLINGS_542_transp_bg_200px_wide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28" y="155351"/>
            <a:ext cx="1219119" cy="3108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17590"/>
            <a:ext cx="9144000" cy="1138762"/>
          </a:xfrm>
          <a:prstGeom prst="rect">
            <a:avLst/>
          </a:prstGeom>
          <a:solidFill>
            <a:srgbClr val="3A7E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Gill Sans MT"/>
                <a:cs typeface="Gill Sans MT"/>
              </a:rPr>
              <a:t>Sequential Multiple Assignment Randomized Trials (SMARTs)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-653" y="1669846"/>
            <a:ext cx="9017876" cy="5115989"/>
          </a:xfrm>
        </p:spPr>
        <p:txBody>
          <a:bodyPr>
            <a:noAutofit/>
          </a:bodyPr>
          <a:lstStyle/>
          <a:p>
            <a:pPr>
              <a:buBlip>
                <a:blip r:embed="rId4"/>
              </a:buBlip>
            </a:pPr>
            <a:r>
              <a:rPr lang="en-US" dirty="0">
                <a:latin typeface="Verdana"/>
                <a:ea typeface="Tahoma" panose="020B0604030504040204" pitchFamily="34" charset="0"/>
                <a:cs typeface="Verdana"/>
              </a:rPr>
              <a:t>The key features of SMARTs are:</a:t>
            </a:r>
          </a:p>
          <a:p>
            <a:pPr lvl="1">
              <a:buBlip>
                <a:blip r:embed="rId4"/>
              </a:buBlip>
            </a:pPr>
            <a:r>
              <a:rPr lang="en-US" dirty="0">
                <a:latin typeface="Verdana"/>
                <a:ea typeface="Tahoma" panose="020B0604030504040204" pitchFamily="34" charset="0"/>
                <a:cs typeface="Verdana"/>
              </a:rPr>
              <a:t>Randomization at multiple decision times</a:t>
            </a:r>
          </a:p>
          <a:p>
            <a:pPr lvl="1">
              <a:buBlip>
                <a:blip r:embed="rId4"/>
              </a:buBlip>
            </a:pPr>
            <a:r>
              <a:rPr lang="en-US" dirty="0">
                <a:latin typeface="Verdana"/>
                <a:ea typeface="Tahoma" panose="020B0604030504040204" pitchFamily="34" charset="0"/>
                <a:cs typeface="Verdana"/>
              </a:rPr>
              <a:t>Choice of treatments or actions to randomize can depend on success of previously randomized treatments</a:t>
            </a:r>
          </a:p>
          <a:p>
            <a:pPr lvl="1">
              <a:buBlip>
                <a:blip r:embed="rId4"/>
              </a:buBlip>
            </a:pPr>
            <a:r>
              <a:rPr lang="en-US" dirty="0">
                <a:latin typeface="Verdana"/>
                <a:ea typeface="Tahoma" panose="020B0604030504040204" pitchFamily="34" charset="0"/>
                <a:cs typeface="Verdana"/>
              </a:rPr>
              <a:t>In medicine, these trials mimic (with foresight) what happens in the clinic</a:t>
            </a:r>
          </a:p>
          <a:p>
            <a:pPr lvl="1">
              <a:buBlip>
                <a:blip r:embed="rId4"/>
              </a:buBlip>
            </a:pPr>
            <a:r>
              <a:rPr lang="en-US" dirty="0">
                <a:latin typeface="Verdana"/>
                <a:ea typeface="Tahoma" panose="020B0604030504040204" pitchFamily="34" charset="0"/>
                <a:cs typeface="Verdana"/>
              </a:rPr>
              <a:t>Can be applied to policy questions</a:t>
            </a:r>
          </a:p>
          <a:p>
            <a:pPr lvl="1">
              <a:buBlip>
                <a:blip r:embed="rId4"/>
              </a:buBlip>
            </a:pPr>
            <a:r>
              <a:rPr lang="en-US" dirty="0">
                <a:latin typeface="Verdana"/>
                <a:ea typeface="Tahoma" panose="020B0604030504040204" pitchFamily="34" charset="0"/>
                <a:cs typeface="Verdana"/>
              </a:rPr>
              <a:t>Challenging to analyze: requires reinforcement learning techniques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598" y="5067300"/>
            <a:ext cx="2118402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640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NC_GILLINGS_542_transp_bg_200px_wid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28" y="155351"/>
            <a:ext cx="1219119" cy="3108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64478"/>
            <a:ext cx="9144000" cy="893754"/>
          </a:xfrm>
          <a:prstGeom prst="rect">
            <a:avLst/>
          </a:prstGeom>
          <a:solidFill>
            <a:srgbClr val="3A7E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Gill Sans MT"/>
                <a:cs typeface="Gill Sans MT"/>
              </a:rPr>
              <a:t>Example 1: T1D Precision Diet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0" y="1470416"/>
            <a:ext cx="9144000" cy="5387584"/>
          </a:xfrm>
        </p:spPr>
        <p:txBody>
          <a:bodyPr>
            <a:noAutofit/>
          </a:bodyPr>
          <a:lstStyle/>
          <a:p>
            <a:pPr>
              <a:buBlip>
                <a:blip r:embed="rId3"/>
              </a:buBlip>
            </a:pP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Accelerating Solutions to Optimize Glycemic Control and Weight Management in Young Adults with Type 1 Diabetes: A SMART Study</a:t>
            </a:r>
            <a:endParaRPr lang="en-US" sz="2000" dirty="0">
              <a:latin typeface="Verdana"/>
              <a:ea typeface="Tahoma" panose="020B0604030504040204" pitchFamily="34" charset="0"/>
              <a:cs typeface="Verdana"/>
            </a:endParaRPr>
          </a:p>
          <a:p>
            <a:pPr lvl="1">
              <a:buBlip>
                <a:blip r:embed="rId3"/>
              </a:buBlip>
            </a:pP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Three interventions:</a:t>
            </a:r>
          </a:p>
          <a:p>
            <a:pPr lvl="2">
              <a:buBlip>
                <a:blip r:embed="rId3"/>
              </a:buBlip>
            </a:pPr>
            <a:r>
              <a:rPr lang="en-US" sz="2000" dirty="0">
                <a:latin typeface="Verdana"/>
                <a:ea typeface="Tahoma" panose="020B0604030504040204" pitchFamily="34" charset="0"/>
                <a:cs typeface="Verdana"/>
              </a:rPr>
              <a:t>Diet 1: hypocaloric, moderate low fat, weight management based on the Look AHEAD study </a:t>
            </a:r>
          </a:p>
          <a:p>
            <a:pPr lvl="2">
              <a:buBlip>
                <a:blip r:embed="rId3"/>
              </a:buBlip>
            </a:pPr>
            <a:r>
              <a:rPr lang="en-US" sz="2000" dirty="0">
                <a:latin typeface="Verdana"/>
                <a:ea typeface="Tahoma" panose="020B0604030504040204" pitchFamily="34" charset="0"/>
                <a:cs typeface="Verdana"/>
              </a:rPr>
              <a:t>Diet 2: hypocaloric, low carbohydrate</a:t>
            </a:r>
          </a:p>
          <a:p>
            <a:pPr lvl="2">
              <a:buBlip>
                <a:blip r:embed="rId3"/>
              </a:buBlip>
            </a:pPr>
            <a:r>
              <a:rPr lang="en-US" sz="2000" dirty="0">
                <a:latin typeface="Verdana"/>
                <a:ea typeface="Tahoma" panose="020B0604030504040204" pitchFamily="34" charset="0"/>
                <a:cs typeface="Verdana"/>
              </a:rPr>
              <a:t>Diet 3: advice to select a healthy Mediterranean </a:t>
            </a:r>
            <a:endParaRPr lang="en-US" sz="2000" dirty="0" smtClean="0">
              <a:latin typeface="Verdana"/>
              <a:ea typeface="Tahoma" panose="020B0604030504040204" pitchFamily="34" charset="0"/>
              <a:cs typeface="Verdana"/>
            </a:endParaRPr>
          </a:p>
          <a:p>
            <a:pPr marL="914400" lvl="2" indent="0">
              <a:buNone/>
            </a:pPr>
            <a:r>
              <a:rPr lang="en-US" sz="2000" dirty="0">
                <a:latin typeface="Verdana"/>
                <a:ea typeface="Tahoma" panose="020B0604030504040204" pitchFamily="34" charset="0"/>
                <a:cs typeface="Verdana"/>
              </a:rPr>
              <a:t> </a:t>
            </a: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</a:rPr>
              <a:t>  dietary </a:t>
            </a:r>
            <a:r>
              <a:rPr lang="en-US" sz="2000" dirty="0">
                <a:latin typeface="Verdana"/>
                <a:ea typeface="Tahoma" panose="020B0604030504040204" pitchFamily="34" charset="0"/>
                <a:cs typeface="Verdana"/>
              </a:rPr>
              <a:t>pattern with no caloric restriction </a:t>
            </a:r>
          </a:p>
          <a:p>
            <a:pPr lvl="1">
              <a:buBlip>
                <a:blip r:embed="rId3"/>
              </a:buBlip>
            </a:pP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Outcomes: HbA1c and percent time in hypoglycemia, change in weight, tolerance of diet</a:t>
            </a:r>
          </a:p>
          <a:p>
            <a:pPr lvl="1">
              <a:buBlip>
                <a:blip r:embed="rId3"/>
              </a:buBlip>
            </a:pP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Response: favorable in all </a:t>
            </a:r>
            <a:r>
              <a:rPr lang="en-US" sz="2400" dirty="0" smtClean="0">
                <a:latin typeface="Verdana"/>
                <a:ea typeface="Tahoma" panose="020B0604030504040204" pitchFamily="34" charset="0"/>
                <a:cs typeface="Verdana"/>
              </a:rPr>
              <a:t>4 </a:t>
            </a: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outcomes</a:t>
            </a:r>
          </a:p>
          <a:p>
            <a:pPr lvl="1">
              <a:buBlip>
                <a:blip r:embed="rId3"/>
              </a:buBlip>
            </a:pPr>
            <a:r>
              <a:rPr lang="en-US" sz="2400" dirty="0" smtClean="0">
                <a:latin typeface="Verdana"/>
                <a:ea typeface="Tahoma" panose="020B0604030504040204" pitchFamily="34" charset="0"/>
                <a:cs typeface="Verdana"/>
              </a:rPr>
              <a:t>Monitored </a:t>
            </a: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every 3 months with response triggered diet reassignment with randomization if possible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7177" y="3497652"/>
            <a:ext cx="1686823" cy="124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585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NC_GILLINGS_542_transp_bg_200px_wide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28" y="155351"/>
            <a:ext cx="1219119" cy="3108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64478"/>
            <a:ext cx="9144000" cy="893754"/>
          </a:xfrm>
          <a:prstGeom prst="rect">
            <a:avLst/>
          </a:prstGeom>
          <a:solidFill>
            <a:srgbClr val="3A7E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Gill Sans MT"/>
                <a:cs typeface="Gill Sans MT"/>
              </a:rPr>
              <a:t>Participants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0" y="1668824"/>
            <a:ext cx="5603789" cy="4412799"/>
          </a:xfrm>
        </p:spPr>
        <p:txBody>
          <a:bodyPr>
            <a:noAutofit/>
          </a:bodyPr>
          <a:lstStyle/>
          <a:p>
            <a:pPr>
              <a:buBlip>
                <a:blip r:embed="rId4"/>
              </a:buBlip>
            </a:pPr>
            <a:r>
              <a:rPr lang="en-US" sz="2400" dirty="0" smtClean="0">
                <a:latin typeface="Verdana"/>
                <a:ea typeface="Tahoma" panose="020B0604030504040204" pitchFamily="34" charset="0"/>
                <a:cs typeface="Verdana"/>
              </a:rPr>
              <a:t>Two sites: </a:t>
            </a: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UNC </a:t>
            </a:r>
            <a:r>
              <a:rPr lang="en-US" sz="2400" dirty="0" smtClean="0">
                <a:latin typeface="Verdana"/>
                <a:ea typeface="Tahoma" panose="020B0604030504040204" pitchFamily="34" charset="0"/>
                <a:cs typeface="Verdana"/>
              </a:rPr>
              <a:t>Chapel Hill </a:t>
            </a: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and Stanford University</a:t>
            </a:r>
          </a:p>
          <a:p>
            <a:pPr lvl="1">
              <a:buBlip>
                <a:blip r:embed="rId4"/>
              </a:buBlip>
            </a:pPr>
            <a:r>
              <a:rPr lang="en-US" sz="2000" dirty="0">
                <a:latin typeface="Verdana"/>
                <a:ea typeface="Tahoma" panose="020B0604030504040204" pitchFamily="34" charset="0"/>
                <a:cs typeface="Verdana"/>
              </a:rPr>
              <a:t>19-30 years old</a:t>
            </a:r>
          </a:p>
          <a:p>
            <a:pPr lvl="1">
              <a:buBlip>
                <a:blip r:embed="rId4"/>
              </a:buBlip>
            </a:pPr>
            <a:r>
              <a:rPr lang="en-US" sz="2000" dirty="0">
                <a:latin typeface="Verdana"/>
                <a:ea typeface="Tahoma" panose="020B0604030504040204" pitchFamily="34" charset="0"/>
                <a:cs typeface="Verdana"/>
              </a:rPr>
              <a:t>T1D &gt; 1 year</a:t>
            </a:r>
          </a:p>
          <a:p>
            <a:pPr lvl="1">
              <a:buBlip>
                <a:blip r:embed="rId4"/>
              </a:buBlip>
            </a:pPr>
            <a:r>
              <a:rPr lang="en-US" sz="2000" dirty="0">
                <a:latin typeface="Verdana"/>
                <a:ea typeface="Tahoma" panose="020B0604030504040204" pitchFamily="34" charset="0"/>
                <a:cs typeface="Verdana"/>
              </a:rPr>
              <a:t>HbA1c &lt; 13.0%</a:t>
            </a:r>
          </a:p>
          <a:p>
            <a:pPr lvl="1">
              <a:buBlip>
                <a:blip r:embed="rId4"/>
              </a:buBlip>
            </a:pPr>
            <a:r>
              <a:rPr lang="en-US" sz="2000" dirty="0">
                <a:latin typeface="Verdana"/>
                <a:ea typeface="Tahoma" panose="020B0604030504040204" pitchFamily="34" charset="0"/>
                <a:cs typeface="Verdana"/>
              </a:rPr>
              <a:t>BMI </a:t>
            </a: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</a:rPr>
              <a:t>27-39</a:t>
            </a:r>
            <a:endParaRPr lang="en-US" sz="2000" dirty="0">
              <a:latin typeface="Verdana"/>
              <a:ea typeface="Tahoma" panose="020B0604030504040204" pitchFamily="34" charset="0"/>
              <a:cs typeface="Verdan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CD9E58-0D9A-40EF-A605-A54478B2BA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4361" y="1668824"/>
            <a:ext cx="2920845" cy="480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762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NC_GILLINGS_542_transp_bg_200px_wide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28" y="155351"/>
            <a:ext cx="1219119" cy="3108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64478"/>
            <a:ext cx="9144000" cy="893754"/>
          </a:xfrm>
          <a:prstGeom prst="rect">
            <a:avLst/>
          </a:prstGeom>
          <a:solidFill>
            <a:srgbClr val="3A7E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Gill Sans MT"/>
                <a:cs typeface="Gill Sans MT"/>
              </a:rPr>
              <a:t>Example 1, cont.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DCF3EE-1653-457B-9711-70B476E9E11F}"/>
              </a:ext>
            </a:extLst>
          </p:cNvPr>
          <p:cNvSpPr txBox="1"/>
          <p:nvPr/>
        </p:nvSpPr>
        <p:spPr>
          <a:xfrm>
            <a:off x="1194578" y="4592917"/>
            <a:ext cx="855065" cy="30221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/>
              <a:t>Diet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2B1DDB-3DC8-4755-B3C6-07474157581E}"/>
              </a:ext>
            </a:extLst>
          </p:cNvPr>
          <p:cNvSpPr txBox="1"/>
          <p:nvPr/>
        </p:nvSpPr>
        <p:spPr>
          <a:xfrm>
            <a:off x="1188518" y="2110285"/>
            <a:ext cx="861125" cy="30221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/>
              <a:t>Diet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D37C65-B5D2-48C6-BA69-51A8B3775401}"/>
              </a:ext>
            </a:extLst>
          </p:cNvPr>
          <p:cNvSpPr txBox="1"/>
          <p:nvPr/>
        </p:nvSpPr>
        <p:spPr>
          <a:xfrm>
            <a:off x="1188518" y="3386302"/>
            <a:ext cx="855065" cy="30221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/>
              <a:t>Diet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4DE9AC-5F1E-4228-9D62-267006A6FF30}"/>
              </a:ext>
            </a:extLst>
          </p:cNvPr>
          <p:cNvSpPr txBox="1"/>
          <p:nvPr/>
        </p:nvSpPr>
        <p:spPr>
          <a:xfrm>
            <a:off x="1054416" y="1582624"/>
            <a:ext cx="995227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Month 0</a:t>
            </a:r>
            <a:endParaRPr lang="en-US" sz="1600" i="1" dirty="0"/>
          </a:p>
        </p:txBody>
      </p:sp>
      <p:sp>
        <p:nvSpPr>
          <p:cNvPr id="16" name="Left-Right-Up Arrow 15"/>
          <p:cNvSpPr/>
          <p:nvPr/>
        </p:nvSpPr>
        <p:spPr>
          <a:xfrm rot="5400000">
            <a:off x="-92825" y="3392099"/>
            <a:ext cx="2096702" cy="339767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 rot="19292716">
            <a:off x="827432" y="2307836"/>
            <a:ext cx="390472" cy="1611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/>
          <p:cNvSpPr/>
          <p:nvPr/>
        </p:nvSpPr>
        <p:spPr>
          <a:xfrm rot="1617637">
            <a:off x="848849" y="4615892"/>
            <a:ext cx="338815" cy="1674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2B1DDB-3DC8-4755-B3C6-07474157581E}"/>
              </a:ext>
            </a:extLst>
          </p:cNvPr>
          <p:cNvSpPr txBox="1"/>
          <p:nvPr/>
        </p:nvSpPr>
        <p:spPr>
          <a:xfrm>
            <a:off x="3453035" y="2126478"/>
            <a:ext cx="861125" cy="30221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/>
              <a:t>Diet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2B1DDB-3DC8-4755-B3C6-07474157581E}"/>
              </a:ext>
            </a:extLst>
          </p:cNvPr>
          <p:cNvSpPr txBox="1"/>
          <p:nvPr/>
        </p:nvSpPr>
        <p:spPr>
          <a:xfrm>
            <a:off x="5482796" y="2106158"/>
            <a:ext cx="861125" cy="30221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/>
              <a:t>Diet 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D37C65-B5D2-48C6-BA69-51A8B3775401}"/>
              </a:ext>
            </a:extLst>
          </p:cNvPr>
          <p:cNvSpPr txBox="1"/>
          <p:nvPr/>
        </p:nvSpPr>
        <p:spPr>
          <a:xfrm>
            <a:off x="3459095" y="2520178"/>
            <a:ext cx="855065" cy="30221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/>
              <a:t>Diet 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DCF3EE-1653-457B-9711-70B476E9E11F}"/>
              </a:ext>
            </a:extLst>
          </p:cNvPr>
          <p:cNvSpPr txBox="1"/>
          <p:nvPr/>
        </p:nvSpPr>
        <p:spPr>
          <a:xfrm>
            <a:off x="3476738" y="2909127"/>
            <a:ext cx="855065" cy="30221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/>
              <a:t>Diet 3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3476738" y="3355911"/>
            <a:ext cx="866465" cy="1098022"/>
            <a:chOff x="3381168" y="2842620"/>
            <a:chExt cx="966867" cy="1230033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B8D37C65-B5D2-48C6-BA69-51A8B3775401}"/>
                </a:ext>
              </a:extLst>
            </p:cNvPr>
            <p:cNvSpPr txBox="1"/>
            <p:nvPr/>
          </p:nvSpPr>
          <p:spPr>
            <a:xfrm>
              <a:off x="3381168" y="2842620"/>
              <a:ext cx="954146" cy="338554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600" b="1" dirty="0"/>
                <a:t>Diet 2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B32B1DDB-3DC8-4755-B3C6-07474157581E}"/>
                </a:ext>
              </a:extLst>
            </p:cNvPr>
            <p:cNvSpPr txBox="1"/>
            <p:nvPr/>
          </p:nvSpPr>
          <p:spPr>
            <a:xfrm>
              <a:off x="3387127" y="3280117"/>
              <a:ext cx="960908" cy="338554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600" b="1" dirty="0"/>
                <a:t>Diet 1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F1DCF3EE-1653-457B-9711-70B476E9E11F}"/>
                </a:ext>
              </a:extLst>
            </p:cNvPr>
            <p:cNvSpPr txBox="1"/>
            <p:nvPr/>
          </p:nvSpPr>
          <p:spPr>
            <a:xfrm>
              <a:off x="3393889" y="3734099"/>
              <a:ext cx="954146" cy="338554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600" b="1" dirty="0"/>
                <a:t>Diet 3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1DCF3EE-1653-457B-9711-70B476E9E11F}"/>
              </a:ext>
            </a:extLst>
          </p:cNvPr>
          <p:cNvSpPr txBox="1"/>
          <p:nvPr/>
        </p:nvSpPr>
        <p:spPr>
          <a:xfrm>
            <a:off x="3488138" y="4556973"/>
            <a:ext cx="855065" cy="30221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/>
              <a:t>Diet 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2B1DDB-3DC8-4755-B3C6-07474157581E}"/>
              </a:ext>
            </a:extLst>
          </p:cNvPr>
          <p:cNvSpPr txBox="1"/>
          <p:nvPr/>
        </p:nvSpPr>
        <p:spPr>
          <a:xfrm>
            <a:off x="3488138" y="4962232"/>
            <a:ext cx="861125" cy="30221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/>
              <a:t>Diet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D37C65-B5D2-48C6-BA69-51A8B3775401}"/>
              </a:ext>
            </a:extLst>
          </p:cNvPr>
          <p:cNvSpPr txBox="1"/>
          <p:nvPr/>
        </p:nvSpPr>
        <p:spPr>
          <a:xfrm>
            <a:off x="3494198" y="5381565"/>
            <a:ext cx="855065" cy="30221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/>
              <a:t>Diet 2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2049643" y="2184253"/>
            <a:ext cx="1428199" cy="930682"/>
            <a:chOff x="1788708" y="1530097"/>
            <a:chExt cx="1593692" cy="1042575"/>
          </a:xfrm>
        </p:grpSpPr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86DF74A1-E360-4C5D-ACCA-03F7B5A30BF4}"/>
                </a:ext>
              </a:extLst>
            </p:cNvPr>
            <p:cNvGrpSpPr/>
            <p:nvPr/>
          </p:nvGrpSpPr>
          <p:grpSpPr>
            <a:xfrm rot="2985736">
              <a:off x="2602403" y="1941317"/>
              <a:ext cx="948951" cy="313759"/>
              <a:chOff x="3821705" y="1366604"/>
              <a:chExt cx="802047" cy="559155"/>
            </a:xfrm>
          </p:grpSpPr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EF56A63C-DFC9-492F-820A-48E787D889D0}"/>
                  </a:ext>
                </a:extLst>
              </p:cNvPr>
              <p:cNvCxnSpPr>
                <a:cxnSpLocks/>
              </p:cNvCxnSpPr>
              <p:nvPr/>
            </p:nvCxnSpPr>
            <p:spPr>
              <a:xfrm rot="18614264">
                <a:off x="3894321" y="1312770"/>
                <a:ext cx="448498" cy="593729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EAE994CC-0F04-40E0-AFF2-80917F3AF8EF}"/>
                  </a:ext>
                </a:extLst>
              </p:cNvPr>
              <p:cNvGrpSpPr/>
              <p:nvPr/>
            </p:nvGrpSpPr>
            <p:grpSpPr>
              <a:xfrm rot="1046229">
                <a:off x="4270402" y="1366604"/>
                <a:ext cx="353350" cy="559155"/>
                <a:chOff x="4991059" y="3100999"/>
                <a:chExt cx="353350" cy="559155"/>
              </a:xfrm>
            </p:grpSpPr>
            <p:cxnSp>
              <p:nvCxnSpPr>
                <p:cNvPr id="98" name="Straight Arrow Connector 97">
                  <a:extLst>
                    <a:ext uri="{FF2B5EF4-FFF2-40B4-BE49-F238E27FC236}">
                      <a16:creationId xmlns:a16="http://schemas.microsoft.com/office/drawing/2014/main" id="{52F998ED-00CA-466F-9E8D-D1FD8D8B9D1F}"/>
                    </a:ext>
                  </a:extLst>
                </p:cNvPr>
                <p:cNvCxnSpPr>
                  <a:cxnSpLocks/>
                  <a:endCxn id="21" idx="1"/>
                </p:cNvCxnSpPr>
                <p:nvPr/>
              </p:nvCxnSpPr>
              <p:spPr>
                <a:xfrm rot="17568035" flipV="1">
                  <a:off x="4900045" y="3192013"/>
                  <a:ext cx="396909" cy="214881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headEnd type="none" w="med" len="med"/>
                  <a:tailEnd type="arrow" w="med" len="med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Arrow Connector 98">
                  <a:extLst>
                    <a:ext uri="{FF2B5EF4-FFF2-40B4-BE49-F238E27FC236}">
                      <a16:creationId xmlns:a16="http://schemas.microsoft.com/office/drawing/2014/main" id="{BB51DFEA-B0DF-42DA-963C-592AAE19F0BD}"/>
                    </a:ext>
                  </a:extLst>
                </p:cNvPr>
                <p:cNvCxnSpPr>
                  <a:cxnSpLocks/>
                  <a:endCxn id="22" idx="1"/>
                </p:cNvCxnSpPr>
                <p:nvPr/>
              </p:nvCxnSpPr>
              <p:spPr>
                <a:xfrm rot="17568035">
                  <a:off x="5056872" y="3372617"/>
                  <a:ext cx="431997" cy="143077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headEnd type="none" w="med" len="med"/>
                  <a:tailEnd type="arrow" w="med" len="med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93" name="Right Arrow 92"/>
            <p:cNvSpPr/>
            <p:nvPr/>
          </p:nvSpPr>
          <p:spPr>
            <a:xfrm>
              <a:off x="1788708" y="1530097"/>
              <a:ext cx="1117686" cy="20704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6C594DAB-1CDF-473B-A5A8-9C9F3B3F79B7}"/>
                </a:ext>
              </a:extLst>
            </p:cNvPr>
            <p:cNvCxnSpPr>
              <a:cxnSpLocks/>
              <a:stCxn id="93" idx="3"/>
              <a:endCxn id="19" idx="1"/>
            </p:cNvCxnSpPr>
            <p:nvPr/>
          </p:nvCxnSpPr>
          <p:spPr>
            <a:xfrm>
              <a:off x="2906394" y="1648917"/>
              <a:ext cx="448325" cy="1034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5" name="TextBox 94"/>
            <p:cNvSpPr txBox="1"/>
            <p:nvPr/>
          </p:nvSpPr>
          <p:spPr>
            <a:xfrm>
              <a:off x="3095142" y="2170973"/>
              <a:ext cx="2872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*</a:t>
              </a:r>
            </a:p>
          </p:txBody>
        </p:sp>
      </p:grpSp>
      <p:sp>
        <p:nvSpPr>
          <p:cNvPr id="28" name="Right Arrow 27"/>
          <p:cNvSpPr/>
          <p:nvPr/>
        </p:nvSpPr>
        <p:spPr>
          <a:xfrm>
            <a:off x="4314160" y="2184903"/>
            <a:ext cx="673809" cy="1794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D37C65-B5D2-48C6-BA69-51A8B3775401}"/>
              </a:ext>
            </a:extLst>
          </p:cNvPr>
          <p:cNvSpPr txBox="1"/>
          <p:nvPr/>
        </p:nvSpPr>
        <p:spPr>
          <a:xfrm>
            <a:off x="5480918" y="2513631"/>
            <a:ext cx="855065" cy="30221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/>
              <a:t>Diet 2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6DF74A1-E360-4C5D-ACCA-03F7B5A30BF4}"/>
              </a:ext>
            </a:extLst>
          </p:cNvPr>
          <p:cNvGrpSpPr/>
          <p:nvPr/>
        </p:nvGrpSpPr>
        <p:grpSpPr>
          <a:xfrm rot="2985736">
            <a:off x="4756980" y="2503363"/>
            <a:ext cx="873544" cy="350653"/>
            <a:chOff x="3821705" y="1232358"/>
            <a:chExt cx="827079" cy="697315"/>
          </a:xfrm>
        </p:grpSpPr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EF56A63C-DFC9-492F-820A-48E787D889D0}"/>
                </a:ext>
              </a:extLst>
            </p:cNvPr>
            <p:cNvCxnSpPr>
              <a:cxnSpLocks/>
            </p:cNvCxnSpPr>
            <p:nvPr/>
          </p:nvCxnSpPr>
          <p:spPr>
            <a:xfrm rot="18614264">
              <a:off x="3894321" y="1312770"/>
              <a:ext cx="448498" cy="593729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EAE994CC-0F04-40E0-AFF2-80917F3AF8EF}"/>
                </a:ext>
              </a:extLst>
            </p:cNvPr>
            <p:cNvGrpSpPr/>
            <p:nvPr/>
          </p:nvGrpSpPr>
          <p:grpSpPr>
            <a:xfrm rot="1046229">
              <a:off x="4277993" y="1232358"/>
              <a:ext cx="370791" cy="697315"/>
              <a:chOff x="4978372" y="2964860"/>
              <a:chExt cx="370791" cy="697315"/>
            </a:xfrm>
          </p:grpSpPr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52F998ED-00CA-466F-9E8D-D1FD8D8B9D1F}"/>
                  </a:ext>
                </a:extLst>
              </p:cNvPr>
              <p:cNvCxnSpPr>
                <a:cxnSpLocks/>
                <a:endCxn id="29" idx="1"/>
              </p:cNvCxnSpPr>
              <p:nvPr/>
            </p:nvCxnSpPr>
            <p:spPr>
              <a:xfrm rot="17568035" flipV="1">
                <a:off x="4819555" y="3123677"/>
                <a:ext cx="558924" cy="24129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BB51DFEA-B0DF-42DA-963C-592AAE19F0BD}"/>
                  </a:ext>
                </a:extLst>
              </p:cNvPr>
              <p:cNvCxnSpPr>
                <a:cxnSpLocks/>
                <a:endCxn id="83" idx="1"/>
              </p:cNvCxnSpPr>
              <p:nvPr/>
            </p:nvCxnSpPr>
            <p:spPr>
              <a:xfrm rot="17568035">
                <a:off x="5011276" y="3324287"/>
                <a:ext cx="537876" cy="137899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C594DAB-1CDF-473B-A5A8-9C9F3B3F79B7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5003734" y="2251129"/>
            <a:ext cx="494827" cy="24768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197244" y="2778404"/>
            <a:ext cx="257428" cy="302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*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6335837" y="2196768"/>
            <a:ext cx="694117" cy="969619"/>
            <a:chOff x="6571567" y="1544117"/>
            <a:chExt cx="774548" cy="1086193"/>
          </a:xfrm>
        </p:grpSpPr>
        <p:sp>
          <p:nvSpPr>
            <p:cNvPr id="85" name="Right Arrow 84"/>
            <p:cNvSpPr/>
            <p:nvPr/>
          </p:nvSpPr>
          <p:spPr>
            <a:xfrm>
              <a:off x="6594228" y="1544117"/>
              <a:ext cx="751887" cy="20098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ight Arrow 85"/>
            <p:cNvSpPr/>
            <p:nvPr/>
          </p:nvSpPr>
          <p:spPr>
            <a:xfrm>
              <a:off x="6571567" y="1975194"/>
              <a:ext cx="751887" cy="20098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ight Arrow 86"/>
            <p:cNvSpPr/>
            <p:nvPr/>
          </p:nvSpPr>
          <p:spPr>
            <a:xfrm>
              <a:off x="6571567" y="2429325"/>
              <a:ext cx="751887" cy="20098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480248" y="2919586"/>
            <a:ext cx="855589" cy="708175"/>
            <a:chOff x="5616836" y="2353837"/>
            <a:chExt cx="954731" cy="793316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1DCF3EE-1653-457B-9711-70B476E9E11F}"/>
                </a:ext>
              </a:extLst>
            </p:cNvPr>
            <p:cNvSpPr txBox="1"/>
            <p:nvPr/>
          </p:nvSpPr>
          <p:spPr>
            <a:xfrm>
              <a:off x="5617421" y="2353837"/>
              <a:ext cx="954146" cy="338554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600" b="1" dirty="0"/>
                <a:t>Diet 3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B8D37C65-B5D2-48C6-BA69-51A8B3775401}"/>
                </a:ext>
              </a:extLst>
            </p:cNvPr>
            <p:cNvSpPr txBox="1"/>
            <p:nvPr/>
          </p:nvSpPr>
          <p:spPr>
            <a:xfrm>
              <a:off x="5616836" y="2808599"/>
              <a:ext cx="954146" cy="338554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600" b="1" dirty="0"/>
                <a:t>Diet 2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F1DCF3EE-1653-457B-9711-70B476E9E11F}"/>
              </a:ext>
            </a:extLst>
          </p:cNvPr>
          <p:cNvSpPr txBox="1"/>
          <p:nvPr/>
        </p:nvSpPr>
        <p:spPr>
          <a:xfrm>
            <a:off x="5480248" y="3746455"/>
            <a:ext cx="855065" cy="30221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/>
              <a:t>Diet 3</a:t>
            </a:r>
          </a:p>
        </p:txBody>
      </p:sp>
      <p:sp>
        <p:nvSpPr>
          <p:cNvPr id="36" name="Right Arrow 35"/>
          <p:cNvSpPr/>
          <p:nvPr/>
        </p:nvSpPr>
        <p:spPr>
          <a:xfrm rot="3179685">
            <a:off x="4139990" y="3028455"/>
            <a:ext cx="1030306" cy="1668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/>
          <p:cNvGrpSpPr/>
          <p:nvPr/>
        </p:nvGrpSpPr>
        <p:grpSpPr>
          <a:xfrm>
            <a:off x="4982346" y="3490303"/>
            <a:ext cx="497901" cy="407261"/>
            <a:chOff x="5061240" y="2993169"/>
            <a:chExt cx="555596" cy="456225"/>
          </a:xfrm>
        </p:grpSpPr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EF56A63C-DFC9-492F-820A-48E787D889D0}"/>
                </a:ext>
              </a:extLst>
            </p:cNvPr>
            <p:cNvCxnSpPr>
              <a:cxnSpLocks/>
              <a:endCxn id="35" idx="1"/>
            </p:cNvCxnSpPr>
            <p:nvPr/>
          </p:nvCxnSpPr>
          <p:spPr>
            <a:xfrm>
              <a:off x="5062165" y="3020915"/>
              <a:ext cx="554671" cy="428479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6C594DAB-1CDF-473B-A5A8-9C9F3B3F79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61240" y="2993169"/>
              <a:ext cx="552165" cy="27746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8" name="Group 37"/>
          <p:cNvGrpSpPr/>
          <p:nvPr/>
        </p:nvGrpSpPr>
        <p:grpSpPr>
          <a:xfrm>
            <a:off x="5488331" y="4151018"/>
            <a:ext cx="855589" cy="708175"/>
            <a:chOff x="5616836" y="2353837"/>
            <a:chExt cx="954731" cy="793316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1DCF3EE-1653-457B-9711-70B476E9E11F}"/>
                </a:ext>
              </a:extLst>
            </p:cNvPr>
            <p:cNvSpPr txBox="1"/>
            <p:nvPr/>
          </p:nvSpPr>
          <p:spPr>
            <a:xfrm>
              <a:off x="5617421" y="2353837"/>
              <a:ext cx="954146" cy="338554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600" b="1" dirty="0"/>
                <a:t>Diet 3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8D37C65-B5D2-48C6-BA69-51A8B3775401}"/>
                </a:ext>
              </a:extLst>
            </p:cNvPr>
            <p:cNvSpPr txBox="1"/>
            <p:nvPr/>
          </p:nvSpPr>
          <p:spPr>
            <a:xfrm>
              <a:off x="5616836" y="2808599"/>
              <a:ext cx="954146" cy="338554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600" b="1" dirty="0"/>
                <a:t>Diet 2</a:t>
              </a:r>
            </a:p>
          </p:txBody>
        </p:sp>
      </p:grpSp>
      <p:sp>
        <p:nvSpPr>
          <p:cNvPr id="39" name="Right Arrow 38"/>
          <p:cNvSpPr/>
          <p:nvPr/>
        </p:nvSpPr>
        <p:spPr>
          <a:xfrm rot="3803838">
            <a:off x="3969743" y="3578455"/>
            <a:ext cx="1410835" cy="1806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/>
          <p:cNvGrpSpPr/>
          <p:nvPr/>
        </p:nvGrpSpPr>
        <p:grpSpPr>
          <a:xfrm>
            <a:off x="4998112" y="4275027"/>
            <a:ext cx="497901" cy="407261"/>
            <a:chOff x="5061240" y="2993169"/>
            <a:chExt cx="555596" cy="456225"/>
          </a:xfrm>
        </p:grpSpPr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EF56A63C-DFC9-492F-820A-48E787D889D0}"/>
                </a:ext>
              </a:extLst>
            </p:cNvPr>
            <p:cNvCxnSpPr>
              <a:cxnSpLocks/>
            </p:cNvCxnSpPr>
            <p:nvPr/>
          </p:nvCxnSpPr>
          <p:spPr>
            <a:xfrm>
              <a:off x="5062165" y="3020915"/>
              <a:ext cx="554671" cy="428479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6C594DAB-1CDF-473B-A5A8-9C9F3B3F79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61240" y="2993169"/>
              <a:ext cx="552165" cy="27746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1" name="Group 40"/>
          <p:cNvGrpSpPr/>
          <p:nvPr/>
        </p:nvGrpSpPr>
        <p:grpSpPr>
          <a:xfrm>
            <a:off x="2049643" y="3438115"/>
            <a:ext cx="1428199" cy="930682"/>
            <a:chOff x="1788708" y="1530097"/>
            <a:chExt cx="1593692" cy="1042575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86DF74A1-E360-4C5D-ACCA-03F7B5A30BF4}"/>
                </a:ext>
              </a:extLst>
            </p:cNvPr>
            <p:cNvGrpSpPr/>
            <p:nvPr/>
          </p:nvGrpSpPr>
          <p:grpSpPr>
            <a:xfrm rot="2985736">
              <a:off x="2602403" y="1941317"/>
              <a:ext cx="948951" cy="313759"/>
              <a:chOff x="3821705" y="1366604"/>
              <a:chExt cx="802047" cy="559155"/>
            </a:xfrm>
          </p:grpSpPr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EF56A63C-DFC9-492F-820A-48E787D889D0}"/>
                  </a:ext>
                </a:extLst>
              </p:cNvPr>
              <p:cNvCxnSpPr>
                <a:cxnSpLocks/>
              </p:cNvCxnSpPr>
              <p:nvPr/>
            </p:nvCxnSpPr>
            <p:spPr>
              <a:xfrm rot="18614264">
                <a:off x="3894321" y="1312770"/>
                <a:ext cx="448498" cy="593729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EAE994CC-0F04-40E0-AFF2-80917F3AF8EF}"/>
                  </a:ext>
                </a:extLst>
              </p:cNvPr>
              <p:cNvGrpSpPr/>
              <p:nvPr/>
            </p:nvGrpSpPr>
            <p:grpSpPr>
              <a:xfrm rot="1046229">
                <a:off x="4270402" y="1366604"/>
                <a:ext cx="353350" cy="559155"/>
                <a:chOff x="4991059" y="3100999"/>
                <a:chExt cx="353350" cy="559155"/>
              </a:xfrm>
            </p:grpSpPr>
            <p:cxnSp>
              <p:nvCxnSpPr>
                <p:cNvPr id="75" name="Straight Arrow Connector 74">
                  <a:extLst>
                    <a:ext uri="{FF2B5EF4-FFF2-40B4-BE49-F238E27FC236}">
                      <a16:creationId xmlns:a16="http://schemas.microsoft.com/office/drawing/2014/main" id="{52F998ED-00CA-466F-9E8D-D1FD8D8B9D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7568035" flipV="1">
                  <a:off x="4900045" y="3192013"/>
                  <a:ext cx="396909" cy="214881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headEnd type="none" w="med" len="med"/>
                  <a:tailEnd type="arrow" w="med" len="med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Arrow Connector 75">
                  <a:extLst>
                    <a:ext uri="{FF2B5EF4-FFF2-40B4-BE49-F238E27FC236}">
                      <a16:creationId xmlns:a16="http://schemas.microsoft.com/office/drawing/2014/main" id="{BB51DFEA-B0DF-42DA-963C-592AAE19F0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7568035">
                  <a:off x="5056872" y="3372617"/>
                  <a:ext cx="431997" cy="143077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headEnd type="none" w="med" len="med"/>
                  <a:tailEnd type="arrow" w="med" len="med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70" name="Right Arrow 69"/>
            <p:cNvSpPr/>
            <p:nvPr/>
          </p:nvSpPr>
          <p:spPr>
            <a:xfrm>
              <a:off x="1788708" y="1530097"/>
              <a:ext cx="1117686" cy="20704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6C594DAB-1CDF-473B-A5A8-9C9F3B3F79B7}"/>
                </a:ext>
              </a:extLst>
            </p:cNvPr>
            <p:cNvCxnSpPr>
              <a:cxnSpLocks/>
              <a:stCxn id="70" idx="3"/>
            </p:cNvCxnSpPr>
            <p:nvPr/>
          </p:nvCxnSpPr>
          <p:spPr>
            <a:xfrm>
              <a:off x="2906394" y="1648917"/>
              <a:ext cx="448325" cy="1034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72" name="TextBox 71"/>
            <p:cNvSpPr txBox="1"/>
            <p:nvPr/>
          </p:nvSpPr>
          <p:spPr>
            <a:xfrm>
              <a:off x="3095142" y="2189458"/>
              <a:ext cx="2872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*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2035812" y="4625883"/>
            <a:ext cx="1454778" cy="930682"/>
            <a:chOff x="1788708" y="1530097"/>
            <a:chExt cx="1623351" cy="1042575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86DF74A1-E360-4C5D-ACCA-03F7B5A30BF4}"/>
                </a:ext>
              </a:extLst>
            </p:cNvPr>
            <p:cNvGrpSpPr/>
            <p:nvPr/>
          </p:nvGrpSpPr>
          <p:grpSpPr>
            <a:xfrm rot="2985736">
              <a:off x="2602403" y="1941317"/>
              <a:ext cx="948951" cy="313759"/>
              <a:chOff x="3821705" y="1366604"/>
              <a:chExt cx="802047" cy="559155"/>
            </a:xfrm>
          </p:grpSpPr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EF56A63C-DFC9-492F-820A-48E787D889D0}"/>
                  </a:ext>
                </a:extLst>
              </p:cNvPr>
              <p:cNvCxnSpPr>
                <a:cxnSpLocks/>
              </p:cNvCxnSpPr>
              <p:nvPr/>
            </p:nvCxnSpPr>
            <p:spPr>
              <a:xfrm rot="18614264">
                <a:off x="3894321" y="1312770"/>
                <a:ext cx="448498" cy="593729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headEnd type="none" w="med" len="med"/>
                <a:tailEnd type="arrow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EAE994CC-0F04-40E0-AFF2-80917F3AF8EF}"/>
                  </a:ext>
                </a:extLst>
              </p:cNvPr>
              <p:cNvGrpSpPr/>
              <p:nvPr/>
            </p:nvGrpSpPr>
            <p:grpSpPr>
              <a:xfrm rot="1046229">
                <a:off x="4270402" y="1366604"/>
                <a:ext cx="353350" cy="559155"/>
                <a:chOff x="4991059" y="3100999"/>
                <a:chExt cx="353350" cy="559155"/>
              </a:xfrm>
            </p:grpSpPr>
            <p:cxnSp>
              <p:nvCxnSpPr>
                <p:cNvPr id="67" name="Straight Arrow Connector 66">
                  <a:extLst>
                    <a:ext uri="{FF2B5EF4-FFF2-40B4-BE49-F238E27FC236}">
                      <a16:creationId xmlns:a16="http://schemas.microsoft.com/office/drawing/2014/main" id="{52F998ED-00CA-466F-9E8D-D1FD8D8B9D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7568035" flipV="1">
                  <a:off x="4900045" y="3192013"/>
                  <a:ext cx="396909" cy="214881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headEnd type="none" w="med" len="med"/>
                  <a:tailEnd type="arrow" w="med" len="med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Arrow Connector 67">
                  <a:extLst>
                    <a:ext uri="{FF2B5EF4-FFF2-40B4-BE49-F238E27FC236}">
                      <a16:creationId xmlns:a16="http://schemas.microsoft.com/office/drawing/2014/main" id="{BB51DFEA-B0DF-42DA-963C-592AAE19F0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7568035">
                  <a:off x="5056872" y="3372617"/>
                  <a:ext cx="431997" cy="143077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headEnd type="none" w="med" len="med"/>
                  <a:tailEnd type="arrow" w="med" len="med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2" name="Right Arrow 61"/>
            <p:cNvSpPr/>
            <p:nvPr/>
          </p:nvSpPr>
          <p:spPr>
            <a:xfrm>
              <a:off x="1788708" y="1530097"/>
              <a:ext cx="1117686" cy="20704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6C594DAB-1CDF-473B-A5A8-9C9F3B3F79B7}"/>
                </a:ext>
              </a:extLst>
            </p:cNvPr>
            <p:cNvCxnSpPr>
              <a:cxnSpLocks/>
              <a:stCxn id="62" idx="3"/>
            </p:cNvCxnSpPr>
            <p:nvPr/>
          </p:nvCxnSpPr>
          <p:spPr>
            <a:xfrm>
              <a:off x="2906394" y="1648917"/>
              <a:ext cx="448325" cy="1034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64" name="TextBox 63"/>
            <p:cNvSpPr txBox="1"/>
            <p:nvPr/>
          </p:nvSpPr>
          <p:spPr>
            <a:xfrm>
              <a:off x="3098111" y="2187005"/>
              <a:ext cx="313948" cy="3792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*</a:t>
              </a:r>
            </a:p>
          </p:txBody>
        </p:sp>
      </p:grpSp>
      <p:sp>
        <p:nvSpPr>
          <p:cNvPr id="43" name="Right Arrow 42"/>
          <p:cNvSpPr/>
          <p:nvPr/>
        </p:nvSpPr>
        <p:spPr>
          <a:xfrm>
            <a:off x="6343396" y="3410284"/>
            <a:ext cx="673809" cy="1794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Arrow 43"/>
          <p:cNvSpPr/>
          <p:nvPr/>
        </p:nvSpPr>
        <p:spPr>
          <a:xfrm>
            <a:off x="6335313" y="3802778"/>
            <a:ext cx="673809" cy="1794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ight Arrow 44"/>
          <p:cNvSpPr/>
          <p:nvPr/>
        </p:nvSpPr>
        <p:spPr>
          <a:xfrm>
            <a:off x="6335837" y="4200489"/>
            <a:ext cx="673809" cy="1794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ight Arrow 45"/>
          <p:cNvSpPr/>
          <p:nvPr/>
        </p:nvSpPr>
        <p:spPr>
          <a:xfrm>
            <a:off x="6356144" y="4623138"/>
            <a:ext cx="673809" cy="1794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ight Brace 46"/>
          <p:cNvSpPr/>
          <p:nvPr/>
        </p:nvSpPr>
        <p:spPr>
          <a:xfrm>
            <a:off x="4277140" y="3314386"/>
            <a:ext cx="262562" cy="1159369"/>
          </a:xfrm>
          <a:prstGeom prst="rightBrace">
            <a:avLst>
              <a:gd name="adj1" fmla="val 8333"/>
              <a:gd name="adj2" fmla="val 50971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ight Brace 47"/>
          <p:cNvSpPr/>
          <p:nvPr/>
        </p:nvSpPr>
        <p:spPr>
          <a:xfrm>
            <a:off x="4277755" y="4544007"/>
            <a:ext cx="262562" cy="1159369"/>
          </a:xfrm>
          <a:prstGeom prst="rightBrace">
            <a:avLst>
              <a:gd name="adj1" fmla="val 8333"/>
              <a:gd name="adj2" fmla="val 50971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5016329" y="5136528"/>
            <a:ext cx="1655887" cy="1635320"/>
            <a:chOff x="626802" y="4751423"/>
            <a:chExt cx="1847764" cy="1831928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4A6BE20-67D2-4B08-B9E8-DF1F618D2C6B}"/>
                </a:ext>
              </a:extLst>
            </p:cNvPr>
            <p:cNvSpPr txBox="1"/>
            <p:nvPr/>
          </p:nvSpPr>
          <p:spPr>
            <a:xfrm>
              <a:off x="1166059" y="4960575"/>
              <a:ext cx="1308507" cy="13641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14" dirty="0"/>
                <a:t>Randomization</a:t>
              </a:r>
            </a:p>
            <a:p>
              <a:endParaRPr lang="en-US" sz="914" dirty="0"/>
            </a:p>
            <a:p>
              <a:r>
                <a:rPr lang="en-US" sz="914" dirty="0"/>
                <a:t>Respond</a:t>
              </a:r>
            </a:p>
            <a:p>
              <a:endParaRPr lang="en-US" sz="914" dirty="0"/>
            </a:p>
            <a:p>
              <a:r>
                <a:rPr lang="en-US" sz="914" dirty="0"/>
                <a:t>Fail</a:t>
              </a:r>
            </a:p>
            <a:p>
              <a:endParaRPr lang="en-US" sz="914" dirty="0"/>
            </a:p>
            <a:p>
              <a:endParaRPr lang="en-US" sz="914" dirty="0"/>
            </a:p>
            <a:p>
              <a:r>
                <a:rPr lang="en-US" sz="914" dirty="0"/>
                <a:t>Fail + Randomization </a:t>
              </a: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02AC5A25-C593-4F35-AE72-42916A6941D6}"/>
                </a:ext>
              </a:extLst>
            </p:cNvPr>
            <p:cNvCxnSpPr>
              <a:cxnSpLocks/>
            </p:cNvCxnSpPr>
            <p:nvPr/>
          </p:nvCxnSpPr>
          <p:spPr>
            <a:xfrm>
              <a:off x="724365" y="5372801"/>
              <a:ext cx="406835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B8051C5E-729D-4E93-9A37-1B352B6C866A}"/>
                </a:ext>
              </a:extLst>
            </p:cNvPr>
            <p:cNvCxnSpPr>
              <a:cxnSpLocks/>
            </p:cNvCxnSpPr>
            <p:nvPr/>
          </p:nvCxnSpPr>
          <p:spPr>
            <a:xfrm>
              <a:off x="715114" y="5679219"/>
              <a:ext cx="399819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9506E7B-9510-4DEC-A6B7-595ED0206251}"/>
                </a:ext>
              </a:extLst>
            </p:cNvPr>
            <p:cNvSpPr txBox="1"/>
            <p:nvPr/>
          </p:nvSpPr>
          <p:spPr>
            <a:xfrm>
              <a:off x="626802" y="4751423"/>
              <a:ext cx="978273" cy="7917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14" dirty="0"/>
                <a:t>Legend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A57D79D0-699F-4DD1-A3B3-9B19E68CBF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475" y="5860454"/>
              <a:ext cx="335458" cy="312786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99BDDB8C-5952-4726-A49C-B08C60A061EF}"/>
                </a:ext>
              </a:extLst>
            </p:cNvPr>
            <p:cNvCxnSpPr>
              <a:cxnSpLocks/>
            </p:cNvCxnSpPr>
            <p:nvPr/>
          </p:nvCxnSpPr>
          <p:spPr>
            <a:xfrm>
              <a:off x="769053" y="6160534"/>
              <a:ext cx="337201" cy="306383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308556F-376E-4155-A7F7-C8EC1BDF36A4}"/>
                </a:ext>
              </a:extLst>
            </p:cNvPr>
            <p:cNvSpPr txBox="1"/>
            <p:nvPr/>
          </p:nvSpPr>
          <p:spPr>
            <a:xfrm>
              <a:off x="785271" y="6056806"/>
              <a:ext cx="160710" cy="5265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15" dirty="0"/>
                <a:t>*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308556F-376E-4155-A7F7-C8EC1BDF36A4}"/>
                </a:ext>
              </a:extLst>
            </p:cNvPr>
            <p:cNvSpPr txBox="1"/>
            <p:nvPr/>
          </p:nvSpPr>
          <p:spPr>
            <a:xfrm>
              <a:off x="708098" y="4984009"/>
              <a:ext cx="160710" cy="5265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15" dirty="0"/>
                <a:t>*</a:t>
              </a:r>
            </a:p>
          </p:txBody>
        </p:sp>
      </p:grpSp>
      <p:sp>
        <p:nvSpPr>
          <p:cNvPr id="50" name="Right Brace 49"/>
          <p:cNvSpPr/>
          <p:nvPr/>
        </p:nvSpPr>
        <p:spPr>
          <a:xfrm>
            <a:off x="7086045" y="5482433"/>
            <a:ext cx="156220" cy="803500"/>
          </a:xfrm>
          <a:prstGeom prst="rightBrace">
            <a:avLst>
              <a:gd name="adj1" fmla="val 8333"/>
              <a:gd name="adj2" fmla="val 50971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7419657" y="5504161"/>
            <a:ext cx="1026243" cy="7925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10" dirty="0"/>
              <a:t>Bracketed groups</a:t>
            </a:r>
          </a:p>
          <a:p>
            <a:r>
              <a:rPr lang="en-US" sz="910" dirty="0"/>
              <a:t>follows same </a:t>
            </a:r>
          </a:p>
          <a:p>
            <a:r>
              <a:rPr lang="en-US" sz="910" dirty="0"/>
              <a:t>pattern as above</a:t>
            </a:r>
          </a:p>
          <a:p>
            <a:r>
              <a:rPr lang="en-US" sz="910" dirty="0"/>
              <a:t>group of three</a:t>
            </a:r>
          </a:p>
          <a:p>
            <a:r>
              <a:rPr lang="en-US" sz="910" dirty="0"/>
              <a:t>after permutation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9737" y="3439225"/>
            <a:ext cx="2468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*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64DE9AC-5F1E-4228-9D62-267006A6FF30}"/>
              </a:ext>
            </a:extLst>
          </p:cNvPr>
          <p:cNvSpPr txBox="1"/>
          <p:nvPr/>
        </p:nvSpPr>
        <p:spPr>
          <a:xfrm>
            <a:off x="3020417" y="1578812"/>
            <a:ext cx="995227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Month 3</a:t>
            </a:r>
            <a:endParaRPr lang="en-US" sz="1600" i="1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64DE9AC-5F1E-4228-9D62-267006A6FF30}"/>
              </a:ext>
            </a:extLst>
          </p:cNvPr>
          <p:cNvSpPr txBox="1"/>
          <p:nvPr/>
        </p:nvSpPr>
        <p:spPr>
          <a:xfrm>
            <a:off x="4957058" y="1578812"/>
            <a:ext cx="995227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Month 6</a:t>
            </a:r>
            <a:endParaRPr lang="en-US" sz="1600" i="1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64DE9AC-5F1E-4228-9D62-267006A6FF30}"/>
              </a:ext>
            </a:extLst>
          </p:cNvPr>
          <p:cNvSpPr txBox="1"/>
          <p:nvPr/>
        </p:nvSpPr>
        <p:spPr>
          <a:xfrm>
            <a:off x="7042178" y="1573049"/>
            <a:ext cx="1154923" cy="10772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Month 9</a:t>
            </a:r>
          </a:p>
          <a:p>
            <a:pPr algn="ctr"/>
            <a:r>
              <a:rPr lang="en-US" sz="1600" b="1" dirty="0"/>
              <a:t>(final follow-up visit)</a:t>
            </a:r>
            <a:endParaRPr lang="en-US" sz="1600" dirty="0"/>
          </a:p>
        </p:txBody>
      </p:sp>
      <p:sp>
        <p:nvSpPr>
          <p:cNvPr id="2" name="TextBox 1"/>
          <p:cNvSpPr txBox="1"/>
          <p:nvPr/>
        </p:nvSpPr>
        <p:spPr>
          <a:xfrm>
            <a:off x="559362" y="5426141"/>
            <a:ext cx="22701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SMART Design Schematic for pilot study for discovery of precision diet selection for T1D patients</a:t>
            </a:r>
          </a:p>
        </p:txBody>
      </p:sp>
    </p:spTree>
    <p:extLst>
      <p:ext uri="{BB962C8B-B14F-4D97-AF65-F5344CB8AC3E}">
        <p14:creationId xmlns:p14="http://schemas.microsoft.com/office/powerpoint/2010/main" val="511808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NC_GILLINGS_542_transp_bg_200px_wid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28" y="155351"/>
            <a:ext cx="1219119" cy="3108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64478"/>
            <a:ext cx="9144000" cy="893754"/>
          </a:xfrm>
          <a:prstGeom prst="rect">
            <a:avLst/>
          </a:prstGeom>
          <a:solidFill>
            <a:srgbClr val="3A7E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Gill Sans MT"/>
                <a:cs typeface="Gill Sans MT"/>
              </a:rPr>
              <a:t>Example 1, cont.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0" y="1458232"/>
            <a:ext cx="5173362" cy="5399768"/>
          </a:xfrm>
        </p:spPr>
        <p:txBody>
          <a:bodyPr>
            <a:noAutofit/>
          </a:bodyPr>
          <a:lstStyle/>
          <a:p>
            <a:pPr>
              <a:buBlip>
                <a:blip r:embed="rId3"/>
              </a:buBlip>
            </a:pP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Currently recruiting patients (80 patients target)</a:t>
            </a:r>
          </a:p>
          <a:p>
            <a:pPr>
              <a:buBlip>
                <a:blip r:embed="rId3"/>
              </a:buBlip>
            </a:pPr>
            <a:r>
              <a:rPr lang="en-US" sz="2000" dirty="0">
                <a:latin typeface="Verdana"/>
                <a:ea typeface="Tahoma" panose="020B0604030504040204" pitchFamily="34" charset="0"/>
                <a:cs typeface="Verdana"/>
              </a:rPr>
              <a:t>Analyses:</a:t>
            </a:r>
          </a:p>
          <a:p>
            <a:pPr lvl="1">
              <a:buBlip>
                <a:blip r:embed="rId3"/>
              </a:buBlip>
            </a:pPr>
            <a:r>
              <a:rPr lang="en-US" sz="1600" dirty="0">
                <a:latin typeface="Verdana"/>
                <a:ea typeface="Tahoma" panose="020B0604030504040204" pitchFamily="34" charset="0"/>
                <a:cs typeface="Verdana"/>
              </a:rPr>
              <a:t>Standard comparison of diets at 3 months</a:t>
            </a:r>
          </a:p>
          <a:p>
            <a:pPr lvl="1">
              <a:buBlip>
                <a:blip r:embed="rId3"/>
              </a:buBlip>
            </a:pPr>
            <a:r>
              <a:rPr lang="en-US" sz="1600" dirty="0">
                <a:latin typeface="Verdana"/>
                <a:ea typeface="Tahoma" panose="020B0604030504040204" pitchFamily="34" charset="0"/>
                <a:cs typeface="Verdana"/>
              </a:rPr>
              <a:t>Estimation of optimal non-tailored treatment regime</a:t>
            </a:r>
          </a:p>
          <a:p>
            <a:pPr lvl="1">
              <a:buBlip>
                <a:blip r:embed="rId3"/>
              </a:buBlip>
            </a:pPr>
            <a:r>
              <a:rPr lang="en-US" sz="1600" dirty="0">
                <a:latin typeface="Verdana"/>
                <a:ea typeface="Tahoma" panose="020B0604030504040204" pitchFamily="34" charset="0"/>
                <a:cs typeface="Verdana"/>
              </a:rPr>
              <a:t>Estimation of tailored treatment regime (Q-learning to obtain precision medicine)</a:t>
            </a:r>
          </a:p>
          <a:p>
            <a:pPr lvl="1">
              <a:buBlip>
                <a:blip r:embed="rId3"/>
              </a:buBlip>
            </a:pPr>
            <a:r>
              <a:rPr lang="en-US" sz="1600" dirty="0">
                <a:latin typeface="Verdana"/>
                <a:ea typeface="Tahoma" panose="020B0604030504040204" pitchFamily="34" charset="0"/>
                <a:cs typeface="Verdana"/>
              </a:rPr>
              <a:t>Sample size calculation for fully powered SMART</a:t>
            </a:r>
          </a:p>
          <a:p>
            <a:pPr>
              <a:buBlip>
                <a:blip r:embed="rId3"/>
              </a:buBlip>
            </a:pPr>
            <a:r>
              <a:rPr lang="en-US" sz="2000" dirty="0">
                <a:latin typeface="Verdana"/>
                <a:ea typeface="Tahoma" panose="020B0604030504040204" pitchFamily="34" charset="0"/>
                <a:cs typeface="Verdana"/>
              </a:rPr>
              <a:t>Next step: fully powered SMART study</a:t>
            </a:r>
          </a:p>
          <a:p>
            <a:pPr>
              <a:buBlip>
                <a:blip r:embed="rId3"/>
              </a:buBlip>
            </a:pPr>
            <a:r>
              <a:rPr lang="en-US" sz="2000" dirty="0">
                <a:latin typeface="Verdana"/>
                <a:ea typeface="Tahoma" panose="020B0604030504040204" pitchFamily="34" charset="0"/>
                <a:cs typeface="Verdana"/>
              </a:rPr>
              <a:t>Future goal: continually learning and improving precision health care using machine learning integrated study design</a:t>
            </a:r>
            <a:endParaRPr lang="en-US" sz="2400" dirty="0">
              <a:latin typeface="Verdana"/>
              <a:ea typeface="Tahoma" panose="020B0604030504040204" pitchFamily="34" charset="0"/>
              <a:cs typeface="Verdan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8578" y="2998707"/>
            <a:ext cx="3915422" cy="219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704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564478"/>
            <a:ext cx="9144000" cy="893754"/>
          </a:xfrm>
          <a:prstGeom prst="rect">
            <a:avLst/>
          </a:prstGeom>
          <a:solidFill>
            <a:srgbClr val="3A7E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Gill Sans MT"/>
                <a:cs typeface="Gill Sans MT"/>
              </a:rPr>
              <a:t>Example 2: T1D and Safe Exercise</a:t>
            </a:r>
          </a:p>
        </p:txBody>
      </p:sp>
      <p:pic>
        <p:nvPicPr>
          <p:cNvPr id="5" name="Picture 4" descr="UNC_GILLINGS_542_transp_bg_200px_wide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28" y="155351"/>
            <a:ext cx="1219119" cy="310875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>
          <a:xfrm>
            <a:off x="0" y="1476828"/>
            <a:ext cx="3799490" cy="538117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Goal: precision medicine for minute-by-minute control of blood glucose level and overall control of weight gain</a:t>
            </a:r>
          </a:p>
          <a:p>
            <a:r>
              <a:rPr lang="en-US" dirty="0"/>
              <a:t>Framework: data-driven decision science at multiple time scales using new hybrid SMART designs, </a:t>
            </a:r>
            <a:r>
              <a:rPr lang="en-US" dirty="0" err="1"/>
              <a:t>mHealth</a:t>
            </a:r>
            <a:r>
              <a:rPr lang="en-US" dirty="0"/>
              <a:t>, micro-randomization, system dynamics, and statistical control theory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864" y="1476828"/>
            <a:ext cx="5294136" cy="44117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80471" y="5924153"/>
            <a:ext cx="45169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 course plot of glucose, insulin, physical activity, and food intake for a single pediatric patient (data from Maahs et al, 2012)</a:t>
            </a:r>
          </a:p>
        </p:txBody>
      </p:sp>
    </p:spTree>
    <p:extLst>
      <p:ext uri="{BB962C8B-B14F-4D97-AF65-F5344CB8AC3E}">
        <p14:creationId xmlns:p14="http://schemas.microsoft.com/office/powerpoint/2010/main" val="4163717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564478"/>
            <a:ext cx="9144000" cy="893754"/>
          </a:xfrm>
          <a:prstGeom prst="rect">
            <a:avLst/>
          </a:prstGeom>
          <a:solidFill>
            <a:srgbClr val="3A7E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Gill Sans MT"/>
                <a:cs typeface="Gill Sans MT"/>
              </a:rPr>
              <a:t>Example </a:t>
            </a:r>
            <a:r>
              <a:rPr lang="en-US" sz="3200" b="1" dirty="0" smtClean="0">
                <a:latin typeface="Gill Sans MT"/>
                <a:cs typeface="Gill Sans MT"/>
              </a:rPr>
              <a:t>2, cont.</a:t>
            </a:r>
            <a:endParaRPr lang="en-US" sz="3200" b="1" dirty="0">
              <a:latin typeface="Gill Sans MT"/>
              <a:cs typeface="Gill Sans MT"/>
            </a:endParaRPr>
          </a:p>
        </p:txBody>
      </p:sp>
      <p:pic>
        <p:nvPicPr>
          <p:cNvPr id="5" name="Picture 4" descr="UNC_GILLINGS_542_transp_bg_200px_wide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28" y="155351"/>
            <a:ext cx="1219119" cy="310875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>
          <a:xfrm>
            <a:off x="0" y="1476828"/>
            <a:ext cx="3799490" cy="5381172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We use a Markov decision process mathematical and statistical framework</a:t>
            </a:r>
          </a:p>
          <a:p>
            <a:r>
              <a:rPr lang="en-US" dirty="0" smtClean="0"/>
              <a:t>We measure the state of the patient and actions which have been taken</a:t>
            </a:r>
          </a:p>
          <a:p>
            <a:r>
              <a:rPr lang="en-US" dirty="0" smtClean="0"/>
              <a:t>V-learning is a new kind of reinforcement learning which incorporates outcome weighted learning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380471" y="5924153"/>
            <a:ext cx="4516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Graphical depiction of a Markov decision process indexed by discrete time points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288" y="3468129"/>
            <a:ext cx="3067661" cy="22524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256903" y="1927655"/>
                <a:ext cx="447520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We assume the data consists of a sample of 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i.i.d</a:t>
                </a:r>
                <a:r>
                  <a:rPr lang="en-US" dirty="0" smtClean="0"/>
                  <a:t>. trajectories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where </a:t>
                </a:r>
                <a:r>
                  <a:rPr lang="en-US" i="1" dirty="0" smtClean="0"/>
                  <a:t>S</a:t>
                </a:r>
                <a:r>
                  <a:rPr lang="en-US" dirty="0" smtClean="0"/>
                  <a:t> is state, </a:t>
                </a:r>
                <a:r>
                  <a:rPr lang="en-US" i="1" dirty="0" smtClean="0"/>
                  <a:t>A</a:t>
                </a:r>
                <a:r>
                  <a:rPr lang="en-US" dirty="0" smtClean="0"/>
                  <a:t> is action (treatment), and </a:t>
                </a:r>
                <a:r>
                  <a:rPr lang="en-US" i="1" dirty="0" smtClean="0"/>
                  <a:t>U</a:t>
                </a:r>
                <a:r>
                  <a:rPr lang="en-US" dirty="0" smtClean="0"/>
                  <a:t> is a specified utility (outcome)</a:t>
                </a:r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6903" y="1927655"/>
                <a:ext cx="4475205" cy="1200329"/>
              </a:xfrm>
              <a:prstGeom prst="rect">
                <a:avLst/>
              </a:prstGeom>
              <a:blipFill>
                <a:blip r:embed="rId5"/>
                <a:stretch>
                  <a:fillRect l="-1090" t="-253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2677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564478"/>
            <a:ext cx="9144000" cy="893754"/>
          </a:xfrm>
          <a:prstGeom prst="rect">
            <a:avLst/>
          </a:prstGeom>
          <a:solidFill>
            <a:srgbClr val="3A7E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latin typeface="Gill Sans MT"/>
                <a:cs typeface="Gill Sans MT"/>
              </a:rPr>
              <a:t>Results From V-Learning </a:t>
            </a:r>
            <a:endParaRPr lang="en-US" sz="3200" b="1" dirty="0">
              <a:latin typeface="Gill Sans MT"/>
              <a:cs typeface="Gill Sans MT"/>
            </a:endParaRPr>
          </a:p>
        </p:txBody>
      </p:sp>
      <p:pic>
        <p:nvPicPr>
          <p:cNvPr id="5" name="Picture 4" descr="UNC_GILLINGS_542_transp_bg_200px_wide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28" y="155351"/>
            <a:ext cx="1219119" cy="3108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623D922-75B5-42E3-B804-A5D60ACF977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0" y="1635173"/>
                <a:ext cx="9144000" cy="5021000"/>
              </a:xfrm>
            </p:spPr>
            <p:txBody>
              <a:bodyPr>
                <a:noAutofit/>
              </a:bodyPr>
              <a:lstStyle/>
              <a:p>
                <a:pPr>
                  <a:buBlip>
                    <a:blip r:embed="rId4"/>
                  </a:buBlip>
                </a:pPr>
                <a:r>
                  <a:rPr lang="en-US" sz="2400" dirty="0" smtClean="0">
                    <a:latin typeface="Verdana"/>
                    <a:ea typeface="Tahoma" panose="020B0604030504040204" pitchFamily="34" charset="0"/>
                    <a:cs typeface="Verdana"/>
                  </a:rPr>
                  <a:t>We applied V-learning to the mobile health data of Maahs et al (2018)</a:t>
                </a:r>
                <a:endParaRPr lang="en-US" sz="2400" dirty="0">
                  <a:latin typeface="Verdana"/>
                  <a:ea typeface="Tahoma" panose="020B0604030504040204" pitchFamily="34" charset="0"/>
                  <a:cs typeface="Verdana"/>
                </a:endParaRPr>
              </a:p>
              <a:p>
                <a:pPr>
                  <a:buBlip>
                    <a:blip r:embed="rId4"/>
                  </a:buBlip>
                </a:pPr>
                <a:r>
                  <a:rPr lang="en-US" sz="2400" dirty="0" smtClean="0">
                    <a:latin typeface="Verdana"/>
                    <a:ea typeface="Tahoma" panose="020B0604030504040204" pitchFamily="34" charset="0"/>
                    <a:cs typeface="Verdana"/>
                  </a:rPr>
                  <a:t>State included insulin use, food intake, physical activity, and blood glucose</a:t>
                </a:r>
              </a:p>
              <a:p>
                <a:pPr>
                  <a:buBlip>
                    <a:blip r:embed="rId4"/>
                  </a:buBlip>
                </a:pPr>
                <a:r>
                  <a:rPr lang="en-US" sz="2400" dirty="0" smtClean="0">
                    <a:latin typeface="Verdana"/>
                    <a:ea typeface="Tahoma" panose="020B0604030504040204" pitchFamily="34" charset="0"/>
                    <a:cs typeface="Verdana"/>
                  </a:rPr>
                  <a:t>Possible actions included take insulin, eat, exercise, combinations (such as take insulin and eat)</a:t>
                </a:r>
              </a:p>
              <a:p>
                <a:pPr>
                  <a:buBlip>
                    <a:blip r:embed="rId4"/>
                  </a:buBlip>
                </a:pPr>
                <a:r>
                  <a:rPr lang="en-US" sz="2400" dirty="0" smtClean="0">
                    <a:latin typeface="Verdana"/>
                    <a:ea typeface="Tahoma" panose="020B0604030504040204" pitchFamily="34" charset="0"/>
                    <a:cs typeface="Verdana"/>
                  </a:rPr>
                  <a:t>Outcome: weighted average of time glucose out of range</a:t>
                </a:r>
              </a:p>
              <a:p>
                <a:pPr>
                  <a:buBlip>
                    <a:blip r:embed="rId4"/>
                  </a:buBlip>
                </a:pPr>
                <a:r>
                  <a:rPr lang="en-US" sz="2400" dirty="0" smtClean="0">
                    <a:latin typeface="Verdana"/>
                    <a:ea typeface="Tahoma" panose="020B0604030504040204" pitchFamily="34" charset="0"/>
                    <a:cs typeface="Verdana"/>
                  </a:rPr>
                  <a:t>Simulations verify that V-learning leads to significantly better performance than Q-learning</a:t>
                </a:r>
                <a:r>
                  <a:rPr lang="en-US" sz="2400" dirty="0">
                    <a:latin typeface="Verdana"/>
                    <a:ea typeface="Tahoma" panose="020B0604030504040204" pitchFamily="34" charset="0"/>
                    <a:cs typeface="Verdana"/>
                  </a:rPr>
                  <a:t> </a:t>
                </a:r>
                <a:r>
                  <a:rPr lang="en-US" sz="2400" dirty="0" smtClean="0">
                    <a:latin typeface="Verdana"/>
                    <a:ea typeface="Tahoma" panose="020B0604030504040204" pitchFamily="34" charset="0"/>
                    <a:cs typeface="Verdana"/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Tahoma" panose="020B0604030504040204" pitchFamily="34" charset="0"/>
                        <a:cs typeface="Verdana"/>
                      </a:rPr>
                      <m:t>≈ </m:t>
                    </m:r>
                  </m:oMath>
                </a14:m>
                <a:r>
                  <a:rPr lang="en-US" sz="2400" dirty="0" smtClean="0">
                    <a:latin typeface="Verdana"/>
                    <a:ea typeface="Tahoma" panose="020B0604030504040204" pitchFamily="34" charset="0"/>
                    <a:cs typeface="Verdana"/>
                  </a:rPr>
                  <a:t>twice as good)</a:t>
                </a:r>
              </a:p>
              <a:p>
                <a:pPr>
                  <a:buBlip>
                    <a:blip r:embed="rId4"/>
                  </a:buBlip>
                </a:pPr>
                <a:r>
                  <a:rPr lang="en-US" sz="2400" dirty="0" smtClean="0">
                    <a:latin typeface="Verdana"/>
                    <a:ea typeface="Tahoma" panose="020B0604030504040204" pitchFamily="34" charset="0"/>
                    <a:cs typeface="Verdana"/>
                  </a:rPr>
                  <a:t>For this patient, the DTR estimated from V-learning reduced the time out of range by 64%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623D922-75B5-42E3-B804-A5D60ACF97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0" y="1635173"/>
                <a:ext cx="9144000" cy="5021000"/>
              </a:xfrm>
              <a:blipFill>
                <a:blip r:embed="rId5"/>
                <a:stretch>
                  <a:fillRect t="-971" r="-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0903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72000" y="1215562"/>
            <a:ext cx="0" cy="27432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83551" y="4332410"/>
            <a:ext cx="8579095" cy="1383192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41F6CA-BEC1-412E-BAD2-A3BE87420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653" y="4424729"/>
            <a:ext cx="8354891" cy="697835"/>
          </a:xfrm>
        </p:spPr>
        <p:txBody>
          <a:bodyPr vert="horz" lIns="68580" tIns="34290" rIns="68580" bIns="34290" rtlCol="0" anchor="b">
            <a:normAutofit/>
          </a:bodyPr>
          <a:lstStyle/>
          <a:p>
            <a:pPr algn="ctr"/>
            <a:r>
              <a:rPr lang="en-US" sz="3000">
                <a:solidFill>
                  <a:srgbClr val="FFFFFF"/>
                </a:solidFill>
              </a:rPr>
              <a:t>Two Modes- planning and standard</a:t>
            </a:r>
            <a:endParaRPr lang="en-US" sz="3000" dirty="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2861C4-7296-4E05-9607-0281E7602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9763" y="123132"/>
            <a:ext cx="2173523" cy="38703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19BED6-89F7-427D-82AD-02CDCE09D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459" y="121554"/>
            <a:ext cx="2206588" cy="393850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57350" y="5161268"/>
            <a:ext cx="58293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6D7517-7B2D-48DE-8534-77CDC51D5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defTabSz="685800">
              <a:defRPr/>
            </a:pPr>
            <a:fld id="{6FDDAC38-6C51-4F79-8DC2-CA35C4EEA0C5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defTabSz="685800">
                <a:defRPr/>
              </a:pPr>
              <a:t>21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04395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NC_GILLINGS_542_transp_bg_200px_wid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28" y="155351"/>
            <a:ext cx="1219119" cy="3108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64479"/>
            <a:ext cx="9144000" cy="671198"/>
          </a:xfrm>
          <a:prstGeom prst="rect">
            <a:avLst/>
          </a:prstGeom>
          <a:solidFill>
            <a:srgbClr val="3A7E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latin typeface="Gill Sans MT"/>
                <a:cs typeface="Gill Sans MT"/>
              </a:rPr>
              <a:t>Potential In Radiation Oncology</a:t>
            </a:r>
            <a:endParaRPr lang="en-US" sz="3600" b="1" dirty="0">
              <a:latin typeface="Gill Sans MT"/>
              <a:cs typeface="Gill Sans MT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0" y="1235677"/>
            <a:ext cx="9144000" cy="5622323"/>
          </a:xfrm>
        </p:spPr>
        <p:txBody>
          <a:bodyPr>
            <a:noAutofit/>
          </a:bodyPr>
          <a:lstStyle/>
          <a:p>
            <a:pPr>
              <a:buBlip>
                <a:blip r:embed="rId3"/>
              </a:buBlip>
            </a:pPr>
            <a:r>
              <a:rPr lang="en-US" sz="3200" dirty="0" smtClean="0">
                <a:latin typeface="Verdana"/>
                <a:ea typeface="Tahoma" panose="020B0604030504040204" pitchFamily="34" charset="0"/>
                <a:cs typeface="Verdana"/>
              </a:rPr>
              <a:t>Using imaging data for tailoring dose, etc.</a:t>
            </a:r>
          </a:p>
          <a:p>
            <a:pPr lvl="1">
              <a:buBlip>
                <a:blip r:embed="rId3"/>
              </a:buBlip>
            </a:pPr>
            <a:r>
              <a:rPr lang="en-US" sz="2900" dirty="0" smtClean="0">
                <a:latin typeface="Verdana"/>
                <a:ea typeface="Tahoma" panose="020B0604030504040204" pitchFamily="34" charset="0"/>
                <a:cs typeface="Verdana"/>
              </a:rPr>
              <a:t>Prediction versus prescription</a:t>
            </a:r>
          </a:p>
          <a:p>
            <a:pPr lvl="1">
              <a:buBlip>
                <a:blip r:embed="rId3"/>
              </a:buBlip>
            </a:pPr>
            <a:r>
              <a:rPr lang="en-US" sz="2900" dirty="0" smtClean="0">
                <a:latin typeface="Verdana"/>
                <a:ea typeface="Tahoma" panose="020B0604030504040204" pitchFamily="34" charset="0"/>
                <a:cs typeface="Verdana"/>
              </a:rPr>
              <a:t>Incorporating deep learning and GP</a:t>
            </a:r>
            <a:endParaRPr lang="en-US" sz="2900" dirty="0">
              <a:latin typeface="Verdana"/>
              <a:ea typeface="Tahoma" panose="020B0604030504040204" pitchFamily="34" charset="0"/>
              <a:cs typeface="Verdana"/>
            </a:endParaRPr>
          </a:p>
          <a:p>
            <a:pPr>
              <a:buBlip>
                <a:blip r:embed="rId3"/>
              </a:buBlip>
            </a:pPr>
            <a:r>
              <a:rPr lang="en-US" sz="3200" dirty="0" smtClean="0">
                <a:latin typeface="Verdana"/>
                <a:ea typeface="Tahoma" panose="020B0604030504040204" pitchFamily="34" charset="0"/>
                <a:cs typeface="Verdana"/>
              </a:rPr>
              <a:t>Using SMART designs and other precision medicine based randomized designs</a:t>
            </a:r>
            <a:endParaRPr lang="en-US" sz="3200" dirty="0">
              <a:latin typeface="Verdana"/>
              <a:ea typeface="Tahoma" panose="020B0604030504040204" pitchFamily="34" charset="0"/>
              <a:cs typeface="Verdana"/>
            </a:endParaRPr>
          </a:p>
          <a:p>
            <a:pPr>
              <a:buBlip>
                <a:blip r:embed="rId3"/>
              </a:buBlip>
            </a:pPr>
            <a:r>
              <a:rPr lang="en-US" sz="3200" dirty="0" smtClean="0">
                <a:latin typeface="Verdana"/>
                <a:ea typeface="Tahoma" panose="020B0604030504040204" pitchFamily="34" charset="0"/>
                <a:cs typeface="Verdana"/>
              </a:rPr>
              <a:t>Randomized versus observational studies</a:t>
            </a:r>
          </a:p>
          <a:p>
            <a:pPr lvl="1">
              <a:buBlip>
                <a:blip r:embed="rId3"/>
              </a:buBlip>
            </a:pPr>
            <a:r>
              <a:rPr lang="en-US" sz="2900" dirty="0" smtClean="0">
                <a:latin typeface="Verdana"/>
                <a:ea typeface="Tahoma" panose="020B0604030504040204" pitchFamily="34" charset="0"/>
                <a:cs typeface="Verdana"/>
              </a:rPr>
              <a:t>Randomized designs offer orders of magnitude more information per data unit than observational studies</a:t>
            </a:r>
            <a:endParaRPr lang="en-US" sz="2900" dirty="0">
              <a:latin typeface="Verdana"/>
              <a:ea typeface="Tahoma" panose="020B0604030504040204" pitchFamily="34" charset="0"/>
              <a:cs typeface="Verdana"/>
            </a:endParaRPr>
          </a:p>
          <a:p>
            <a:pPr>
              <a:buBlip>
                <a:blip r:embed="rId3"/>
              </a:buBlip>
            </a:pPr>
            <a:r>
              <a:rPr lang="en-US" sz="3200" dirty="0" smtClean="0">
                <a:latin typeface="Verdana"/>
                <a:ea typeface="Tahoma" panose="020B0604030504040204" pitchFamily="34" charset="0"/>
                <a:cs typeface="Verdana"/>
              </a:rPr>
              <a:t>Heterogeneity in observational studies</a:t>
            </a:r>
          </a:p>
          <a:p>
            <a:pPr lvl="1">
              <a:buBlip>
                <a:blip r:embed="rId3"/>
              </a:buBlip>
            </a:pPr>
            <a:r>
              <a:rPr lang="en-US" sz="2900" dirty="0">
                <a:latin typeface="Verdana"/>
                <a:ea typeface="Tahoma" panose="020B0604030504040204" pitchFamily="34" charset="0"/>
                <a:cs typeface="Verdana"/>
              </a:rPr>
              <a:t>T</a:t>
            </a:r>
            <a:r>
              <a:rPr lang="en-US" sz="2900" dirty="0" smtClean="0">
                <a:latin typeface="Verdana"/>
                <a:ea typeface="Tahoma" panose="020B0604030504040204" pitchFamily="34" charset="0"/>
                <a:cs typeface="Verdana"/>
              </a:rPr>
              <a:t>o be effective, we need strong heterogeneity of patients and treatment</a:t>
            </a:r>
            <a:endParaRPr lang="en-US" sz="2900" dirty="0">
              <a:latin typeface="Verdana"/>
              <a:ea typeface="Tahoma" panose="020B0604030504040204" pitchFamily="34" charset="0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927887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NC_GILLINGS_542_transp_bg_200px_wid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28" y="155351"/>
            <a:ext cx="1219119" cy="3108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64478"/>
            <a:ext cx="9144000" cy="893754"/>
          </a:xfrm>
          <a:prstGeom prst="rect">
            <a:avLst/>
          </a:prstGeom>
          <a:solidFill>
            <a:srgbClr val="3A7E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Gill Sans MT"/>
                <a:cs typeface="Gill Sans MT"/>
              </a:rPr>
              <a:t>Concluding Thoughts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0" y="1556484"/>
            <a:ext cx="9017876" cy="5301516"/>
          </a:xfrm>
        </p:spPr>
        <p:txBody>
          <a:bodyPr>
            <a:noAutofit/>
          </a:bodyPr>
          <a:lstStyle/>
          <a:p>
            <a:pPr>
              <a:buBlip>
                <a:blip r:embed="rId3"/>
              </a:buBlip>
            </a:pP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There are many useful new methods </a:t>
            </a:r>
            <a:r>
              <a:rPr lang="en-US" sz="2400" dirty="0" smtClean="0">
                <a:latin typeface="Verdana"/>
                <a:ea typeface="Tahoma" panose="020B0604030504040204" pitchFamily="34" charset="0"/>
                <a:cs typeface="Verdana"/>
              </a:rPr>
              <a:t>in machine learning for precision medicine discovery</a:t>
            </a:r>
          </a:p>
          <a:p>
            <a:pPr>
              <a:buBlip>
                <a:blip r:embed="rId3"/>
              </a:buBlip>
            </a:pPr>
            <a:r>
              <a:rPr lang="en-US" sz="2400" dirty="0" smtClean="0">
                <a:latin typeface="Verdana"/>
                <a:ea typeface="Tahoma" panose="020B0604030504040204" pitchFamily="34" charset="0"/>
                <a:cs typeface="Verdana"/>
              </a:rPr>
              <a:t>SMART study designs are powerful for discovery of precision medicine tools for clinical decision support</a:t>
            </a:r>
          </a:p>
          <a:p>
            <a:pPr>
              <a:buBlip>
                <a:blip r:embed="rId3"/>
              </a:buBlip>
            </a:pPr>
            <a:r>
              <a:rPr lang="en-US" sz="2400" dirty="0" smtClean="0">
                <a:latin typeface="Verdana"/>
                <a:ea typeface="Tahoma" panose="020B0604030504040204" pitchFamily="34" charset="0"/>
                <a:cs typeface="Verdana"/>
              </a:rPr>
              <a:t>Off-policy reinforcement learning is a powerful kind of machine learning which can estimate dynamic treatment regimes from both observational and randomized study designs </a:t>
            </a:r>
          </a:p>
          <a:p>
            <a:pPr>
              <a:buBlip>
                <a:blip r:embed="rId3"/>
              </a:buBlip>
            </a:pPr>
            <a:r>
              <a:rPr lang="en-US" sz="2400" dirty="0" smtClean="0">
                <a:latin typeface="Verdana"/>
                <a:ea typeface="Tahoma" panose="020B0604030504040204" pitchFamily="34" charset="0"/>
                <a:cs typeface="Verdana"/>
              </a:rPr>
              <a:t>Statistical inference principals </a:t>
            </a:r>
            <a:r>
              <a:rPr lang="en-US" sz="2400" dirty="0">
                <a:latin typeface="Verdana"/>
                <a:ea typeface="Tahoma" panose="020B0604030504040204" pitchFamily="34" charset="0"/>
                <a:cs typeface="Verdana"/>
              </a:rPr>
              <a:t>are </a:t>
            </a:r>
            <a:r>
              <a:rPr lang="en-US" sz="2400" dirty="0" smtClean="0">
                <a:latin typeface="Verdana"/>
                <a:ea typeface="Tahoma" panose="020B0604030504040204" pitchFamily="34" charset="0"/>
                <a:cs typeface="Verdana"/>
              </a:rPr>
              <a:t>key to reproducibility</a:t>
            </a:r>
            <a:endParaRPr lang="en-US" sz="2400" dirty="0">
              <a:latin typeface="Verdana"/>
              <a:ea typeface="Tahoma" panose="020B0604030504040204" pitchFamily="34" charset="0"/>
              <a:cs typeface="Verdana"/>
            </a:endParaRPr>
          </a:p>
          <a:p>
            <a:pPr>
              <a:buBlip>
                <a:blip r:embed="rId3"/>
              </a:buBlip>
            </a:pPr>
            <a:r>
              <a:rPr lang="en-US" sz="2400" dirty="0" smtClean="0">
                <a:latin typeface="Verdana"/>
                <a:ea typeface="Tahoma" panose="020B0604030504040204" pitchFamily="34" charset="0"/>
                <a:cs typeface="Verdana"/>
              </a:rPr>
              <a:t>Although we have made much progress and can apply these method in practice, much work remains</a:t>
            </a:r>
          </a:p>
          <a:p>
            <a:pPr>
              <a:buBlip>
                <a:blip r:embed="rId3"/>
              </a:buBlip>
            </a:pPr>
            <a:r>
              <a:rPr lang="en-US" sz="2400" dirty="0" smtClean="0">
                <a:latin typeface="Verdana"/>
                <a:ea typeface="Tahoma" panose="020B0604030504040204" pitchFamily="34" charset="0"/>
                <a:cs typeface="Verdana"/>
              </a:rPr>
              <a:t>Some resources are on the next slide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1076" y="4483754"/>
            <a:ext cx="1366837" cy="90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333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NC_GILLINGS_542_transp_bg_200px_wid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28" y="155351"/>
            <a:ext cx="1219119" cy="3108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64478"/>
            <a:ext cx="9144000" cy="835954"/>
          </a:xfrm>
          <a:prstGeom prst="rect">
            <a:avLst/>
          </a:prstGeom>
          <a:solidFill>
            <a:srgbClr val="3A7E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latin typeface="Gill Sans MT"/>
                <a:cs typeface="Gill Sans MT"/>
              </a:rPr>
              <a:t>Some Resources</a:t>
            </a:r>
            <a:endParaRPr lang="en-US" sz="3600" b="1" dirty="0">
              <a:latin typeface="Gill Sans MT"/>
              <a:cs typeface="Gill Sans MT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0" y="1417447"/>
            <a:ext cx="9017876" cy="5399768"/>
          </a:xfrm>
        </p:spPr>
        <p:txBody>
          <a:bodyPr>
            <a:noAutofit/>
          </a:bodyPr>
          <a:lstStyle/>
          <a:p>
            <a:pPr>
              <a:buBlip>
                <a:blip r:embed="rId3"/>
              </a:buBlip>
            </a:pPr>
            <a:r>
              <a:rPr lang="en-US" sz="2400" dirty="0" smtClean="0">
                <a:latin typeface="Verdana"/>
                <a:ea typeface="Tahoma" panose="020B0604030504040204" pitchFamily="34" charset="0"/>
                <a:cs typeface="Verdana"/>
              </a:rPr>
              <a:t>The </a:t>
            </a:r>
            <a:r>
              <a:rPr lang="en-US" sz="2400" dirty="0" err="1" smtClean="0">
                <a:latin typeface="Verdana"/>
                <a:ea typeface="Tahoma" panose="020B0604030504040204" pitchFamily="34" charset="0"/>
                <a:cs typeface="Verdana"/>
              </a:rPr>
              <a:t>PennState</a:t>
            </a:r>
            <a:r>
              <a:rPr lang="en-US" sz="2400" dirty="0" smtClean="0">
                <a:latin typeface="Verdana"/>
                <a:ea typeface="Tahoma" panose="020B0604030504040204" pitchFamily="34" charset="0"/>
                <a:cs typeface="Verdana"/>
              </a:rPr>
              <a:t> Methodology Center:</a:t>
            </a:r>
          </a:p>
          <a:p>
            <a:pPr lvl="1">
              <a:buBlip>
                <a:blip r:embed="rId3"/>
              </a:buBlip>
            </a:pPr>
            <a:r>
              <a:rPr lang="en-US" sz="2000" dirty="0">
                <a:latin typeface="Verdana"/>
                <a:ea typeface="Tahoma" panose="020B0604030504040204" pitchFamily="34" charset="0"/>
                <a:cs typeface="Verdana"/>
                <a:hlinkClick r:id="rId4"/>
              </a:rPr>
              <a:t>https://www.methodology.psu.edu</a:t>
            </a: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  <a:hlinkClick r:id="rId4"/>
              </a:rPr>
              <a:t>/</a:t>
            </a:r>
            <a:endParaRPr lang="en-US" sz="2000" dirty="0" smtClean="0">
              <a:latin typeface="Verdana"/>
              <a:ea typeface="Tahoma" panose="020B0604030504040204" pitchFamily="34" charset="0"/>
              <a:cs typeface="Verdana"/>
            </a:endParaRPr>
          </a:p>
          <a:p>
            <a:pPr lvl="1">
              <a:buBlip>
                <a:blip r:embed="rId3"/>
              </a:buBlip>
            </a:pP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</a:rPr>
              <a:t>Contains many resources and examples </a:t>
            </a: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</a:rPr>
              <a:t>of </a:t>
            </a: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</a:rPr>
              <a:t>SMART designs</a:t>
            </a:r>
          </a:p>
          <a:p>
            <a:pPr>
              <a:buBlip>
                <a:blip r:embed="rId3"/>
              </a:buBlip>
            </a:pPr>
            <a:r>
              <a:rPr lang="en-US" sz="2400" dirty="0" err="1" smtClean="0">
                <a:latin typeface="Verdana"/>
                <a:ea typeface="Tahoma" panose="020B0604030504040204" pitchFamily="34" charset="0"/>
                <a:cs typeface="Verdana"/>
              </a:rPr>
              <a:t>DynTxRegime</a:t>
            </a:r>
            <a:r>
              <a:rPr lang="en-US" sz="2400" dirty="0" smtClean="0">
                <a:latin typeface="Verdana"/>
                <a:ea typeface="Tahoma" panose="020B0604030504040204" pitchFamily="34" charset="0"/>
                <a:cs typeface="Verdana"/>
              </a:rPr>
              <a:t>: A comprehensive package for analysis of dynamic treatment regimes (in R)</a:t>
            </a:r>
          </a:p>
          <a:p>
            <a:pPr lvl="1">
              <a:buBlip>
                <a:blip r:embed="rId3"/>
              </a:buBlip>
            </a:pPr>
            <a:r>
              <a:rPr lang="en-US" sz="2000" dirty="0">
                <a:latin typeface="Verdana"/>
                <a:ea typeface="Tahoma" panose="020B0604030504040204" pitchFamily="34" charset="0"/>
                <a:cs typeface="Verdana"/>
                <a:hlinkClick r:id="rId5"/>
              </a:rPr>
              <a:t>https://</a:t>
            </a: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  <a:hlinkClick r:id="rId5"/>
              </a:rPr>
              <a:t>www2.cscc.unc.edu/impact7/DynTxRegime</a:t>
            </a:r>
            <a:endParaRPr lang="en-US" sz="2000" dirty="0" smtClean="0">
              <a:latin typeface="Verdana"/>
              <a:ea typeface="Tahoma" panose="020B0604030504040204" pitchFamily="34" charset="0"/>
              <a:cs typeface="Verdana"/>
            </a:endParaRPr>
          </a:p>
          <a:p>
            <a:pPr lvl="1">
              <a:buBlip>
                <a:blip r:embed="rId3"/>
              </a:buBlip>
            </a:pP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</a:rPr>
              <a:t>Includes </a:t>
            </a: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</a:rPr>
              <a:t>an interactive </a:t>
            </a: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</a:rPr>
              <a:t>tutorial</a:t>
            </a:r>
          </a:p>
          <a:p>
            <a:pPr>
              <a:buBlip>
                <a:blip r:embed="rId3"/>
              </a:buBlip>
            </a:pPr>
            <a:r>
              <a:rPr lang="en-US" sz="2400" dirty="0" smtClean="0">
                <a:latin typeface="Verdana"/>
                <a:ea typeface="Tahoma" panose="020B0604030504040204" pitchFamily="34" charset="0"/>
                <a:cs typeface="Verdana"/>
              </a:rPr>
              <a:t>Kosorok and Moodie (2016, SIAM). Adaptive Treatment Strategies in Practice: Planning Trials and Analyzing Data for Personalized Medicine</a:t>
            </a:r>
          </a:p>
          <a:p>
            <a:pPr lvl="1">
              <a:buBlip>
                <a:blip r:embed="rId3"/>
              </a:buBlip>
            </a:pPr>
            <a:r>
              <a:rPr lang="en-US" sz="2000" dirty="0">
                <a:latin typeface="Verdana"/>
                <a:ea typeface="Tahoma" panose="020B0604030504040204" pitchFamily="34" charset="0"/>
                <a:cs typeface="Verdana"/>
                <a:hlinkClick r:id="rId6"/>
              </a:rPr>
              <a:t>http://bookstore.siam.org/sa21</a:t>
            </a: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  <a:hlinkClick r:id="rId6"/>
              </a:rPr>
              <a:t>/</a:t>
            </a:r>
            <a:endParaRPr lang="en-US" sz="2000" dirty="0" smtClean="0">
              <a:latin typeface="Verdana"/>
              <a:ea typeface="Tahoma" panose="020B0604030504040204" pitchFamily="34" charset="0"/>
              <a:cs typeface="Verdana"/>
            </a:endParaRPr>
          </a:p>
          <a:p>
            <a:pPr>
              <a:buBlip>
                <a:blip r:embed="rId3"/>
              </a:buBlip>
            </a:pPr>
            <a:r>
              <a:rPr lang="en-US" sz="2400" dirty="0" smtClean="0">
                <a:latin typeface="Verdana"/>
                <a:ea typeface="Tahoma" panose="020B0604030504040204" pitchFamily="34" charset="0"/>
                <a:cs typeface="Verdana"/>
              </a:rPr>
              <a:t>The Innovative Methods Program (IMPACT):</a:t>
            </a:r>
          </a:p>
          <a:p>
            <a:pPr lvl="1">
              <a:buBlip>
                <a:blip r:embed="rId3"/>
              </a:buBlip>
            </a:pPr>
            <a:r>
              <a:rPr lang="en-US" sz="2000" dirty="0">
                <a:latin typeface="Verdana"/>
                <a:ea typeface="Tahoma" panose="020B0604030504040204" pitchFamily="34" charset="0"/>
                <a:cs typeface="Verdana"/>
                <a:hlinkClick r:id="rId7"/>
              </a:rPr>
              <a:t>https://www2.cscc.unc.edu/impact7</a:t>
            </a: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  <a:hlinkClick r:id="rId7"/>
              </a:rPr>
              <a:t>/</a:t>
            </a: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</a:rPr>
              <a:t> (P01 CA142538)</a:t>
            </a:r>
          </a:p>
          <a:p>
            <a:pPr lvl="1">
              <a:buBlip>
                <a:blip r:embed="rId3"/>
              </a:buBlip>
            </a:pPr>
            <a:r>
              <a:rPr lang="en-US" sz="2000" dirty="0">
                <a:latin typeface="Verdana"/>
                <a:ea typeface="Tahoma" panose="020B0604030504040204" pitchFamily="34" charset="0"/>
                <a:cs typeface="Verdana"/>
              </a:rPr>
              <a:t>C</a:t>
            </a:r>
            <a:r>
              <a:rPr lang="en-US" sz="2000" dirty="0" smtClean="0">
                <a:latin typeface="Verdana"/>
                <a:ea typeface="Tahoma" panose="020B0604030504040204" pitchFamily="34" charset="0"/>
                <a:cs typeface="Verdana"/>
              </a:rPr>
              <a:t>ollaborative resource: Drs. Kosorok, Davidian, Owzar</a:t>
            </a:r>
          </a:p>
          <a:p>
            <a:pPr lvl="1">
              <a:buBlip>
                <a:blip r:embed="rId3"/>
              </a:buBlip>
            </a:pPr>
            <a:endParaRPr lang="en-US" sz="2000" dirty="0" smtClean="0">
              <a:latin typeface="Verdana"/>
              <a:ea typeface="Tahoma" panose="020B0604030504040204" pitchFamily="34" charset="0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260236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NC_GILLINGS_542_transp_bg_200px_wid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28" y="155351"/>
            <a:ext cx="1219119" cy="3108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64478"/>
            <a:ext cx="9144000" cy="893754"/>
          </a:xfrm>
          <a:prstGeom prst="rect">
            <a:avLst/>
          </a:prstGeom>
          <a:solidFill>
            <a:srgbClr val="3A7E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latin typeface="Gill Sans MT"/>
              <a:cs typeface="Gill Sans M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01801" y="2997200"/>
            <a:ext cx="531209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 smtClean="0">
                <a:solidFill>
                  <a:srgbClr val="00B0F0"/>
                </a:solidFill>
              </a:rPr>
              <a:t>Thank You</a:t>
            </a:r>
            <a:endParaRPr lang="en-US" sz="9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5369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3042</TotalTime>
  <Words>1975</Words>
  <Application>Microsoft Office PowerPoint</Application>
  <PresentationFormat>On-screen Show (4:3)</PresentationFormat>
  <Paragraphs>272</Paragraphs>
  <Slides>25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</vt:lpstr>
      <vt:lpstr>Avenir Next Regular</vt:lpstr>
      <vt:lpstr>Calibri</vt:lpstr>
      <vt:lpstr>Calibri Light</vt:lpstr>
      <vt:lpstr>Cambria Math</vt:lpstr>
      <vt:lpstr>Gill Sans MT</vt:lpstr>
      <vt:lpstr>Tahoma</vt:lpstr>
      <vt:lpstr>Verdana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Two Modes- planning and standard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Anna Kahkoska</dc:creator>
  <cp:lastModifiedBy>Kosorok, Michael R</cp:lastModifiedBy>
  <cp:revision>50</cp:revision>
  <dcterms:created xsi:type="dcterms:W3CDTF">2019-01-30T21:37:39Z</dcterms:created>
  <dcterms:modified xsi:type="dcterms:W3CDTF">2019-03-21T16:57:16Z</dcterms:modified>
</cp:coreProperties>
</file>